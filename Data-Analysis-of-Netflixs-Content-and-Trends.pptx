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4630400" cy="8229600"/>
  <p:notesSz cx="8229600" cy="14630400"/>
  <p:embeddedFontLst>
    <p:embeddedFont>
      <p:font typeface="Dela Gothic One"/>
      <p:regular r:id="rId20"/>
    </p:embeddedFont>
    <p:embeddedFont>
      <p:font typeface="Dela Gothic One"/>
      <p:regular r:id="rId21"/>
    </p:embeddedFont>
    <p:embeddedFont>
      <p:font typeface="DM Sans"/>
      <p:regular r:id="rId22"/>
    </p:embeddedFont>
    <p:embeddedFont>
      <p:font typeface="DM Sans"/>
      <p:regular r:id="rId23"/>
    </p:embeddedFont>
    <p:embeddedFont>
      <p:font typeface="DM Sans"/>
      <p:regular r:id="rId24"/>
    </p:embeddedFont>
    <p:embeddedFont>
      <p:font typeface="DM Sans"/>
      <p:regular r:id="rId25"/>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font" Target="fonts/font1.fntdata"/><Relationship Id="rId21" Type="http://schemas.openxmlformats.org/officeDocument/2006/relationships/font" Target="fonts/font2.fntdata"/><Relationship Id="rId22" Type="http://schemas.openxmlformats.org/officeDocument/2006/relationships/font" Target="fonts/font3.fntdata"/><Relationship Id="rId23" Type="http://schemas.openxmlformats.org/officeDocument/2006/relationships/font" Target="fonts/font4.fntdata"/><Relationship Id="rId24" Type="http://schemas.openxmlformats.org/officeDocument/2006/relationships/font" Target="fonts/font5.fntdata"/><Relationship Id="rId25"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1-1.png"/><Relationship Id="rId2" Type="http://schemas.openxmlformats.org/officeDocument/2006/relationships/image" Target="../media/image-1011-2.png"/><Relationship Id="rId4"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2-1.png"/><Relationship Id="rId2" Type="http://schemas.openxmlformats.org/officeDocument/2006/relationships/image" Target="../media/image-1012-2.png"/><Relationship Id="rId4"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3-1.png"/><Relationship Id="rId2" Type="http://schemas.openxmlformats.org/officeDocument/2006/relationships/image" Target="../media/image-1013-2.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4-1.png"/><Relationship Id="rId2" Type="http://schemas.openxmlformats.org/officeDocument/2006/relationships/image" Target="../media/image-1014-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A0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A0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A0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A0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A0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A0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A0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A0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A0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A0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A0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A0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A0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6.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www.kaggle.com/datasets/shivamb/netflix-shows" TargetMode="External"/><Relationship Id="rId2" Type="http://schemas.openxmlformats.org/officeDocument/2006/relationships/hyperlink" Target="https://www.python.org/" TargetMode="External"/><Relationship Id="rId3" Type="http://schemas.openxmlformats.org/officeDocument/2006/relationships/hyperlink" Target="https://pandas.pydata.org/" TargetMode="External"/><Relationship Id="rId4" Type="http://schemas.openxmlformats.org/officeDocument/2006/relationships/hyperlink" Target="https://numpy.org/" TargetMode="External"/><Relationship Id="rId5" Type="http://schemas.openxmlformats.org/officeDocument/2006/relationships/hyperlink" Target="https://plotly.com/python/plotly-express/" TargetMode="External"/><Relationship Id="rId6" Type="http://schemas.openxmlformats.org/officeDocument/2006/relationships/hyperlink" Target="https://jupyter.org/" TargetMode="External"/><Relationship Id="rId7" Type="http://schemas.openxmlformats.org/officeDocument/2006/relationships/slideLayout" Target="../slideLayouts/slideLayout14.xml"/><Relationship Id="rId8"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44709" y="1201222"/>
            <a:ext cx="7627382" cy="2138124"/>
          </a:xfrm>
          <a:prstGeom prst="rect">
            <a:avLst/>
          </a:prstGeom>
          <a:noFill/>
          <a:ln/>
        </p:spPr>
        <p:txBody>
          <a:bodyPr wrap="square" lIns="0" tIns="0" rIns="0" bIns="0" rtlCol="0" anchor="t"/>
          <a:lstStyle/>
          <a:p>
            <a:pPr algn="l" indent="0" marL="0">
              <a:lnSpc>
                <a:spcPts val="5600"/>
              </a:lnSpc>
              <a:buNone/>
            </a:pPr>
            <a:r>
              <a:rPr lang="en-US" sz="4450" dirty="0">
                <a:solidFill>
                  <a:srgbClr val="FAEBEB"/>
                </a:solidFill>
                <a:latin typeface="Dela Gothic One" pitchFamily="34" charset="0"/>
                <a:ea typeface="Dela Gothic One" pitchFamily="34" charset="-122"/>
                <a:cs typeface="Dela Gothic One" pitchFamily="34" charset="-120"/>
              </a:rPr>
              <a:t>Data Analysis of Netflix's Content and Trends</a:t>
            </a:r>
            <a:endParaRPr lang="en-US" sz="4450" dirty="0"/>
          </a:p>
        </p:txBody>
      </p:sp>
      <p:sp>
        <p:nvSpPr>
          <p:cNvPr id="4" name="Text 1"/>
          <p:cNvSpPr/>
          <p:nvPr/>
        </p:nvSpPr>
        <p:spPr>
          <a:xfrm>
            <a:off x="6244709" y="3664268"/>
            <a:ext cx="7627382" cy="1733550"/>
          </a:xfrm>
          <a:prstGeom prst="rect">
            <a:avLst/>
          </a:prstGeom>
          <a:noFill/>
          <a:ln/>
        </p:spPr>
        <p:txBody>
          <a:bodyPr wrap="square" lIns="0" tIns="0" rIns="0" bIns="0" rtlCol="0" anchor="t"/>
          <a:lstStyle/>
          <a:p>
            <a:pPr algn="l" indent="0" marL="0">
              <a:lnSpc>
                <a:spcPts val="2700"/>
              </a:lnSpc>
              <a:buNone/>
            </a:pPr>
            <a:r>
              <a:rPr lang="en-US" sz="1700" dirty="0">
                <a:solidFill>
                  <a:srgbClr val="FFE5E5"/>
                </a:solidFill>
                <a:latin typeface="DM Sans" pitchFamily="34" charset="0"/>
                <a:ea typeface="DM Sans" pitchFamily="34" charset="-122"/>
                <a:cs typeface="DM Sans" pitchFamily="34" charset="-120"/>
              </a:rPr>
              <a:t>This project delves into the vast content library of Netflix, employing data science techniques to uncover insights into genre distribution, country-wise content contributions, content ratings, and release year trends. The analysis leverages Python libraries and data visualization tools to provide a comprehensive understanding of Netflix's content landscape.</a:t>
            </a:r>
            <a:endParaRPr lang="en-US" sz="1700" dirty="0"/>
          </a:p>
        </p:txBody>
      </p:sp>
      <p:sp>
        <p:nvSpPr>
          <p:cNvPr id="5" name="Text 2"/>
          <p:cNvSpPr/>
          <p:nvPr/>
        </p:nvSpPr>
        <p:spPr>
          <a:xfrm>
            <a:off x="6244709" y="5641538"/>
            <a:ext cx="7627382" cy="1386840"/>
          </a:xfrm>
          <a:prstGeom prst="rect">
            <a:avLst/>
          </a:prstGeom>
          <a:noFill/>
          <a:ln/>
        </p:spPr>
        <p:txBody>
          <a:bodyPr wrap="square" lIns="0" tIns="0" rIns="0" bIns="0" rtlCol="0" anchor="t"/>
          <a:lstStyle/>
          <a:p>
            <a:pPr algn="l" indent="0" marL="0">
              <a:lnSpc>
                <a:spcPts val="2700"/>
              </a:lnSpc>
              <a:buNone/>
            </a:pPr>
            <a:r>
              <a:rPr lang="en-US" sz="1700" dirty="0">
                <a:solidFill>
                  <a:srgbClr val="FFE5E5"/>
                </a:solidFill>
                <a:latin typeface="DM Sans" pitchFamily="34" charset="0"/>
                <a:ea typeface="DM Sans" pitchFamily="34" charset="-122"/>
                <a:cs typeface="DM Sans" pitchFamily="34" charset="-120"/>
              </a:rPr>
              <a:t>The project aims to answer key questions about Netflix's content, such as the number of movies and TV shows available, the popularity of different genres, the countries producing the most content, and the evolution of Netflix's content over time.</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30910"/>
          </a:xfrm>
          <a:prstGeom prst="rect">
            <a:avLst/>
          </a:prstGeom>
        </p:spPr>
      </p:pic>
      <p:sp>
        <p:nvSpPr>
          <p:cNvPr id="3" name="Text 0"/>
          <p:cNvSpPr/>
          <p:nvPr/>
        </p:nvSpPr>
        <p:spPr>
          <a:xfrm>
            <a:off x="754023" y="592455"/>
            <a:ext cx="7635954" cy="1204913"/>
          </a:xfrm>
          <a:prstGeom prst="rect">
            <a:avLst/>
          </a:prstGeom>
          <a:noFill/>
          <a:ln/>
        </p:spPr>
        <p:txBody>
          <a:bodyPr wrap="square" lIns="0" tIns="0" rIns="0" bIns="0" rtlCol="0" anchor="t"/>
          <a:lstStyle/>
          <a:p>
            <a:pPr algn="l" indent="0" marL="0">
              <a:lnSpc>
                <a:spcPts val="4700"/>
              </a:lnSpc>
              <a:buNone/>
            </a:pPr>
            <a:r>
              <a:rPr lang="en-US" sz="3750" dirty="0">
                <a:solidFill>
                  <a:srgbClr val="FAEBEB"/>
                </a:solidFill>
                <a:latin typeface="Dela Gothic One" pitchFamily="34" charset="0"/>
                <a:ea typeface="Dela Gothic One" pitchFamily="34" charset="-122"/>
                <a:cs typeface="Dela Gothic One" pitchFamily="34" charset="-120"/>
              </a:rPr>
              <a:t>Project Objectives and Design</a:t>
            </a:r>
            <a:endParaRPr lang="en-US" sz="3750" dirty="0"/>
          </a:p>
        </p:txBody>
      </p:sp>
      <p:sp>
        <p:nvSpPr>
          <p:cNvPr id="4" name="Shape 1"/>
          <p:cNvSpPr/>
          <p:nvPr/>
        </p:nvSpPr>
        <p:spPr>
          <a:xfrm>
            <a:off x="754023" y="2278023"/>
            <a:ext cx="412075" cy="412075"/>
          </a:xfrm>
          <a:prstGeom prst="roundRect">
            <a:avLst>
              <a:gd name="adj" fmla="val 18667"/>
            </a:avLst>
          </a:prstGeom>
          <a:solidFill>
            <a:srgbClr val="740B0B"/>
          </a:solidFill>
          <a:ln w="7620">
            <a:solidFill>
              <a:srgbClr val="8D2424"/>
            </a:solidFill>
            <a:prstDash val="solid"/>
          </a:ln>
        </p:spPr>
      </p:sp>
      <p:pic>
        <p:nvPicPr>
          <p:cNvPr id="5" name="Image 1" descr="preencoded.png">    </p:cNvPr>
          <p:cNvPicPr>
            <a:picLocks noChangeAspect="1"/>
          </p:cNvPicPr>
          <p:nvPr/>
        </p:nvPicPr>
        <p:blipFill>
          <a:blip r:embed="rId2"/>
          <a:stretch>
            <a:fillRect/>
          </a:stretch>
        </p:blipFill>
        <p:spPr>
          <a:xfrm>
            <a:off x="815459" y="2303324"/>
            <a:ext cx="289084" cy="361355"/>
          </a:xfrm>
          <a:prstGeom prst="rect">
            <a:avLst/>
          </a:prstGeom>
        </p:spPr>
      </p:pic>
      <p:sp>
        <p:nvSpPr>
          <p:cNvPr id="6" name="Text 2"/>
          <p:cNvSpPr/>
          <p:nvPr/>
        </p:nvSpPr>
        <p:spPr>
          <a:xfrm>
            <a:off x="1349216" y="2278023"/>
            <a:ext cx="2409706" cy="301228"/>
          </a:xfrm>
          <a:prstGeom prst="rect">
            <a:avLst/>
          </a:prstGeom>
          <a:noFill/>
          <a:ln/>
        </p:spPr>
        <p:txBody>
          <a:bodyPr wrap="none" lIns="0" tIns="0" rIns="0" bIns="0" rtlCol="0" anchor="t"/>
          <a:lstStyle/>
          <a:p>
            <a:pPr algn="l" indent="0" marL="0">
              <a:lnSpc>
                <a:spcPts val="2350"/>
              </a:lnSpc>
              <a:buNone/>
            </a:pPr>
            <a:r>
              <a:rPr lang="en-US" sz="1850" dirty="0">
                <a:solidFill>
                  <a:srgbClr val="FFE5E5"/>
                </a:solidFill>
                <a:latin typeface="Dela Gothic One" pitchFamily="34" charset="0"/>
                <a:ea typeface="Dela Gothic One" pitchFamily="34" charset="-122"/>
                <a:cs typeface="Dela Gothic One" pitchFamily="34" charset="-120"/>
              </a:rPr>
              <a:t>Content Volume</a:t>
            </a:r>
            <a:endParaRPr lang="en-US" sz="1850" dirty="0"/>
          </a:p>
        </p:txBody>
      </p:sp>
      <p:sp>
        <p:nvSpPr>
          <p:cNvPr id="7" name="Text 3"/>
          <p:cNvSpPr/>
          <p:nvPr/>
        </p:nvSpPr>
        <p:spPr>
          <a:xfrm>
            <a:off x="1349216" y="2689027"/>
            <a:ext cx="7040761" cy="292894"/>
          </a:xfrm>
          <a:prstGeom prst="rect">
            <a:avLst/>
          </a:prstGeom>
          <a:noFill/>
          <a:ln/>
        </p:spPr>
        <p:txBody>
          <a:bodyPr wrap="none" lIns="0" tIns="0" rIns="0" bIns="0" rtlCol="0" anchor="t"/>
          <a:lstStyle/>
          <a:p>
            <a:pPr algn="l" indent="0" marL="0">
              <a:lnSpc>
                <a:spcPts val="2300"/>
              </a:lnSpc>
              <a:buNone/>
            </a:pPr>
            <a:r>
              <a:rPr lang="en-US" sz="1400" dirty="0">
                <a:solidFill>
                  <a:srgbClr val="FFE5E5"/>
                </a:solidFill>
                <a:latin typeface="DM Sans" pitchFamily="34" charset="0"/>
                <a:ea typeface="DM Sans" pitchFamily="34" charset="-122"/>
                <a:cs typeface="DM Sans" pitchFamily="34" charset="-120"/>
              </a:rPr>
              <a:t>Determine the number of movies and TV shows on Netflix.</a:t>
            </a:r>
            <a:endParaRPr lang="en-US" sz="1400" dirty="0"/>
          </a:p>
        </p:txBody>
      </p:sp>
      <p:sp>
        <p:nvSpPr>
          <p:cNvPr id="8" name="Shape 4"/>
          <p:cNvSpPr/>
          <p:nvPr/>
        </p:nvSpPr>
        <p:spPr>
          <a:xfrm>
            <a:off x="754023" y="3371017"/>
            <a:ext cx="412075" cy="412075"/>
          </a:xfrm>
          <a:prstGeom prst="roundRect">
            <a:avLst>
              <a:gd name="adj" fmla="val 18667"/>
            </a:avLst>
          </a:prstGeom>
          <a:solidFill>
            <a:srgbClr val="740B0B"/>
          </a:solidFill>
          <a:ln w="7620">
            <a:solidFill>
              <a:srgbClr val="8D2424"/>
            </a:solidFill>
            <a:prstDash val="solid"/>
          </a:ln>
        </p:spPr>
      </p:sp>
      <p:pic>
        <p:nvPicPr>
          <p:cNvPr id="9" name="Image 2" descr="preencoded.png">    </p:cNvPr>
          <p:cNvPicPr>
            <a:picLocks noChangeAspect="1"/>
          </p:cNvPicPr>
          <p:nvPr/>
        </p:nvPicPr>
        <p:blipFill>
          <a:blip r:embed="rId3"/>
          <a:stretch>
            <a:fillRect/>
          </a:stretch>
        </p:blipFill>
        <p:spPr>
          <a:xfrm>
            <a:off x="815459" y="3396317"/>
            <a:ext cx="289084" cy="361355"/>
          </a:xfrm>
          <a:prstGeom prst="rect">
            <a:avLst/>
          </a:prstGeom>
        </p:spPr>
      </p:pic>
      <p:sp>
        <p:nvSpPr>
          <p:cNvPr id="10" name="Text 5"/>
          <p:cNvSpPr/>
          <p:nvPr/>
        </p:nvSpPr>
        <p:spPr>
          <a:xfrm>
            <a:off x="1349216" y="3371017"/>
            <a:ext cx="2422684" cy="301228"/>
          </a:xfrm>
          <a:prstGeom prst="rect">
            <a:avLst/>
          </a:prstGeom>
          <a:noFill/>
          <a:ln/>
        </p:spPr>
        <p:txBody>
          <a:bodyPr wrap="none" lIns="0" tIns="0" rIns="0" bIns="0" rtlCol="0" anchor="t"/>
          <a:lstStyle/>
          <a:p>
            <a:pPr algn="l" indent="0" marL="0">
              <a:lnSpc>
                <a:spcPts val="2350"/>
              </a:lnSpc>
              <a:buNone/>
            </a:pPr>
            <a:r>
              <a:rPr lang="en-US" sz="1850" dirty="0">
                <a:solidFill>
                  <a:srgbClr val="FFE5E5"/>
                </a:solidFill>
                <a:latin typeface="Dela Gothic One" pitchFamily="34" charset="0"/>
                <a:ea typeface="Dela Gothic One" pitchFamily="34" charset="-122"/>
                <a:cs typeface="Dela Gothic One" pitchFamily="34" charset="-120"/>
              </a:rPr>
              <a:t>Genre Popularity</a:t>
            </a:r>
            <a:endParaRPr lang="en-US" sz="1850" dirty="0"/>
          </a:p>
        </p:txBody>
      </p:sp>
      <p:sp>
        <p:nvSpPr>
          <p:cNvPr id="11" name="Text 6"/>
          <p:cNvSpPr/>
          <p:nvPr/>
        </p:nvSpPr>
        <p:spPr>
          <a:xfrm>
            <a:off x="1349216" y="3782020"/>
            <a:ext cx="7040761" cy="292894"/>
          </a:xfrm>
          <a:prstGeom prst="rect">
            <a:avLst/>
          </a:prstGeom>
          <a:noFill/>
          <a:ln/>
        </p:spPr>
        <p:txBody>
          <a:bodyPr wrap="none" lIns="0" tIns="0" rIns="0" bIns="0" rtlCol="0" anchor="t"/>
          <a:lstStyle/>
          <a:p>
            <a:pPr algn="l" indent="0" marL="0">
              <a:lnSpc>
                <a:spcPts val="2300"/>
              </a:lnSpc>
              <a:buNone/>
            </a:pPr>
            <a:r>
              <a:rPr lang="en-US" sz="1400" dirty="0">
                <a:solidFill>
                  <a:srgbClr val="FFE5E5"/>
                </a:solidFill>
                <a:latin typeface="DM Sans" pitchFamily="34" charset="0"/>
                <a:ea typeface="DM Sans" pitchFamily="34" charset="-122"/>
                <a:cs typeface="DM Sans" pitchFamily="34" charset="-120"/>
              </a:rPr>
              <a:t>Identify the most prevalent genres, such as drama and comedy.</a:t>
            </a:r>
            <a:endParaRPr lang="en-US" sz="1400" dirty="0"/>
          </a:p>
        </p:txBody>
      </p:sp>
      <p:sp>
        <p:nvSpPr>
          <p:cNvPr id="12" name="Shape 7"/>
          <p:cNvSpPr/>
          <p:nvPr/>
        </p:nvSpPr>
        <p:spPr>
          <a:xfrm>
            <a:off x="754023" y="4464010"/>
            <a:ext cx="412075" cy="412075"/>
          </a:xfrm>
          <a:prstGeom prst="roundRect">
            <a:avLst>
              <a:gd name="adj" fmla="val 18667"/>
            </a:avLst>
          </a:prstGeom>
          <a:solidFill>
            <a:srgbClr val="740B0B"/>
          </a:solidFill>
          <a:ln w="7620">
            <a:solidFill>
              <a:srgbClr val="8D2424"/>
            </a:solidFill>
            <a:prstDash val="solid"/>
          </a:ln>
        </p:spPr>
      </p:sp>
      <p:pic>
        <p:nvPicPr>
          <p:cNvPr id="13" name="Image 3" descr="preencoded.png">    </p:cNvPr>
          <p:cNvPicPr>
            <a:picLocks noChangeAspect="1"/>
          </p:cNvPicPr>
          <p:nvPr/>
        </p:nvPicPr>
        <p:blipFill>
          <a:blip r:embed="rId4"/>
          <a:stretch>
            <a:fillRect/>
          </a:stretch>
        </p:blipFill>
        <p:spPr>
          <a:xfrm>
            <a:off x="815459" y="4489311"/>
            <a:ext cx="289084" cy="361355"/>
          </a:xfrm>
          <a:prstGeom prst="rect">
            <a:avLst/>
          </a:prstGeom>
        </p:spPr>
      </p:pic>
      <p:sp>
        <p:nvSpPr>
          <p:cNvPr id="14" name="Text 8"/>
          <p:cNvSpPr/>
          <p:nvPr/>
        </p:nvSpPr>
        <p:spPr>
          <a:xfrm>
            <a:off x="1349216" y="4464010"/>
            <a:ext cx="3185993" cy="301228"/>
          </a:xfrm>
          <a:prstGeom prst="rect">
            <a:avLst/>
          </a:prstGeom>
          <a:noFill/>
          <a:ln/>
        </p:spPr>
        <p:txBody>
          <a:bodyPr wrap="none" lIns="0" tIns="0" rIns="0" bIns="0" rtlCol="0" anchor="t"/>
          <a:lstStyle/>
          <a:p>
            <a:pPr algn="l" indent="0" marL="0">
              <a:lnSpc>
                <a:spcPts val="2350"/>
              </a:lnSpc>
              <a:buNone/>
            </a:pPr>
            <a:r>
              <a:rPr lang="en-US" sz="1850" dirty="0">
                <a:solidFill>
                  <a:srgbClr val="FFE5E5"/>
                </a:solidFill>
                <a:latin typeface="Dela Gothic One" pitchFamily="34" charset="0"/>
                <a:ea typeface="Dela Gothic One" pitchFamily="34" charset="-122"/>
                <a:cs typeface="Dela Gothic One" pitchFamily="34" charset="-120"/>
              </a:rPr>
              <a:t>Country Contributions</a:t>
            </a:r>
            <a:endParaRPr lang="en-US" sz="1850" dirty="0"/>
          </a:p>
        </p:txBody>
      </p:sp>
      <p:sp>
        <p:nvSpPr>
          <p:cNvPr id="15" name="Text 9"/>
          <p:cNvSpPr/>
          <p:nvPr/>
        </p:nvSpPr>
        <p:spPr>
          <a:xfrm>
            <a:off x="1349216" y="4875014"/>
            <a:ext cx="7040761" cy="292894"/>
          </a:xfrm>
          <a:prstGeom prst="rect">
            <a:avLst/>
          </a:prstGeom>
          <a:noFill/>
          <a:ln/>
        </p:spPr>
        <p:txBody>
          <a:bodyPr wrap="none" lIns="0" tIns="0" rIns="0" bIns="0" rtlCol="0" anchor="t"/>
          <a:lstStyle/>
          <a:p>
            <a:pPr algn="l" indent="0" marL="0">
              <a:lnSpc>
                <a:spcPts val="2300"/>
              </a:lnSpc>
              <a:buNone/>
            </a:pPr>
            <a:r>
              <a:rPr lang="en-US" sz="1400" dirty="0">
                <a:solidFill>
                  <a:srgbClr val="FFE5E5"/>
                </a:solidFill>
                <a:latin typeface="DM Sans" pitchFamily="34" charset="0"/>
                <a:ea typeface="DM Sans" pitchFamily="34" charset="-122"/>
                <a:cs typeface="DM Sans" pitchFamily="34" charset="-120"/>
              </a:rPr>
              <a:t>Analyze content contributions from various countries.</a:t>
            </a:r>
            <a:endParaRPr lang="en-US" sz="1400" dirty="0"/>
          </a:p>
        </p:txBody>
      </p:sp>
      <p:sp>
        <p:nvSpPr>
          <p:cNvPr id="16" name="Shape 10"/>
          <p:cNvSpPr/>
          <p:nvPr/>
        </p:nvSpPr>
        <p:spPr>
          <a:xfrm>
            <a:off x="754023" y="5557004"/>
            <a:ext cx="412075" cy="412075"/>
          </a:xfrm>
          <a:prstGeom prst="roundRect">
            <a:avLst>
              <a:gd name="adj" fmla="val 18667"/>
            </a:avLst>
          </a:prstGeom>
          <a:solidFill>
            <a:srgbClr val="740B0B"/>
          </a:solidFill>
          <a:ln w="7620">
            <a:solidFill>
              <a:srgbClr val="8D2424"/>
            </a:solidFill>
            <a:prstDash val="solid"/>
          </a:ln>
        </p:spPr>
      </p:sp>
      <p:pic>
        <p:nvPicPr>
          <p:cNvPr id="17" name="Image 4" descr="preencoded.png">    </p:cNvPr>
          <p:cNvPicPr>
            <a:picLocks noChangeAspect="1"/>
          </p:cNvPicPr>
          <p:nvPr/>
        </p:nvPicPr>
        <p:blipFill>
          <a:blip r:embed="rId5"/>
          <a:stretch>
            <a:fillRect/>
          </a:stretch>
        </p:blipFill>
        <p:spPr>
          <a:xfrm>
            <a:off x="815459" y="5582305"/>
            <a:ext cx="289084" cy="361355"/>
          </a:xfrm>
          <a:prstGeom prst="rect">
            <a:avLst/>
          </a:prstGeom>
        </p:spPr>
      </p:pic>
      <p:sp>
        <p:nvSpPr>
          <p:cNvPr id="18" name="Text 11"/>
          <p:cNvSpPr/>
          <p:nvPr/>
        </p:nvSpPr>
        <p:spPr>
          <a:xfrm>
            <a:off x="1349216" y="5557004"/>
            <a:ext cx="2703314" cy="301228"/>
          </a:xfrm>
          <a:prstGeom prst="rect">
            <a:avLst/>
          </a:prstGeom>
          <a:noFill/>
          <a:ln/>
        </p:spPr>
        <p:txBody>
          <a:bodyPr wrap="none" lIns="0" tIns="0" rIns="0" bIns="0" rtlCol="0" anchor="t"/>
          <a:lstStyle/>
          <a:p>
            <a:pPr algn="l" indent="0" marL="0">
              <a:lnSpc>
                <a:spcPts val="2350"/>
              </a:lnSpc>
              <a:buNone/>
            </a:pPr>
            <a:r>
              <a:rPr lang="en-US" sz="1850" dirty="0">
                <a:solidFill>
                  <a:srgbClr val="FFE5E5"/>
                </a:solidFill>
                <a:latin typeface="Dela Gothic One" pitchFamily="34" charset="0"/>
                <a:ea typeface="Dela Gothic One" pitchFamily="34" charset="-122"/>
                <a:cs typeface="Dela Gothic One" pitchFamily="34" charset="-120"/>
              </a:rPr>
              <a:t>Rating Distribution</a:t>
            </a:r>
            <a:endParaRPr lang="en-US" sz="1850" dirty="0"/>
          </a:p>
        </p:txBody>
      </p:sp>
      <p:sp>
        <p:nvSpPr>
          <p:cNvPr id="19" name="Text 12"/>
          <p:cNvSpPr/>
          <p:nvPr/>
        </p:nvSpPr>
        <p:spPr>
          <a:xfrm>
            <a:off x="1349216" y="5968008"/>
            <a:ext cx="7040761" cy="292894"/>
          </a:xfrm>
          <a:prstGeom prst="rect">
            <a:avLst/>
          </a:prstGeom>
          <a:noFill/>
          <a:ln/>
        </p:spPr>
        <p:txBody>
          <a:bodyPr wrap="none" lIns="0" tIns="0" rIns="0" bIns="0" rtlCol="0" anchor="t"/>
          <a:lstStyle/>
          <a:p>
            <a:pPr algn="l" indent="0" marL="0">
              <a:lnSpc>
                <a:spcPts val="2300"/>
              </a:lnSpc>
              <a:buNone/>
            </a:pPr>
            <a:r>
              <a:rPr lang="en-US" sz="1400" dirty="0">
                <a:solidFill>
                  <a:srgbClr val="FFE5E5"/>
                </a:solidFill>
                <a:latin typeface="DM Sans" pitchFamily="34" charset="0"/>
                <a:ea typeface="DM Sans" pitchFamily="34" charset="-122"/>
                <a:cs typeface="DM Sans" pitchFamily="34" charset="-120"/>
              </a:rPr>
              <a:t>Understand the distribution of content ratings and duration trends.</a:t>
            </a:r>
            <a:endParaRPr lang="en-US" sz="1400" dirty="0"/>
          </a:p>
        </p:txBody>
      </p:sp>
      <p:sp>
        <p:nvSpPr>
          <p:cNvPr id="20" name="Text 13"/>
          <p:cNvSpPr/>
          <p:nvPr/>
        </p:nvSpPr>
        <p:spPr>
          <a:xfrm>
            <a:off x="754023" y="6466880"/>
            <a:ext cx="7635954" cy="1171575"/>
          </a:xfrm>
          <a:prstGeom prst="rect">
            <a:avLst/>
          </a:prstGeom>
          <a:noFill/>
          <a:ln/>
        </p:spPr>
        <p:txBody>
          <a:bodyPr wrap="square" lIns="0" tIns="0" rIns="0" bIns="0" rtlCol="0" anchor="t"/>
          <a:lstStyle/>
          <a:p>
            <a:pPr algn="l" indent="0" marL="0">
              <a:lnSpc>
                <a:spcPts val="2300"/>
              </a:lnSpc>
              <a:buNone/>
            </a:pPr>
            <a:r>
              <a:rPr lang="en-US" sz="1400" dirty="0">
                <a:solidFill>
                  <a:srgbClr val="FFE5E5"/>
                </a:solidFill>
                <a:latin typeface="DM Sans" pitchFamily="34" charset="0"/>
                <a:ea typeface="DM Sans" pitchFamily="34" charset="-122"/>
                <a:cs typeface="DM Sans" pitchFamily="34" charset="-120"/>
              </a:rPr>
              <a:t>The project aims to understand Netflix’s content using data. We want to find answers to questions like how many movies and TV shows are there, which genres are most popular, which countries make the most content, what are the different types of content ratings and how has Netflix’s content grown over the years?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58309" y="1676638"/>
            <a:ext cx="9333786" cy="712708"/>
          </a:xfrm>
          <a:prstGeom prst="rect">
            <a:avLst/>
          </a:prstGeom>
          <a:noFill/>
          <a:ln/>
        </p:spPr>
        <p:txBody>
          <a:bodyPr wrap="none" lIns="0" tIns="0" rIns="0" bIns="0" rtlCol="0" anchor="t"/>
          <a:lstStyle/>
          <a:p>
            <a:pPr algn="l" indent="0" marL="0">
              <a:lnSpc>
                <a:spcPts val="5600"/>
              </a:lnSpc>
              <a:buNone/>
            </a:pPr>
            <a:r>
              <a:rPr lang="en-US" sz="4450" dirty="0">
                <a:solidFill>
                  <a:srgbClr val="FAEBEB"/>
                </a:solidFill>
                <a:latin typeface="Dela Gothic One" pitchFamily="34" charset="0"/>
                <a:ea typeface="Dela Gothic One" pitchFamily="34" charset="-122"/>
                <a:cs typeface="Dela Gothic One" pitchFamily="34" charset="-120"/>
              </a:rPr>
              <a:t>Dataset Overview and Tools</a:t>
            </a:r>
            <a:endParaRPr lang="en-US" sz="4450" dirty="0"/>
          </a:p>
        </p:txBody>
      </p:sp>
      <p:sp>
        <p:nvSpPr>
          <p:cNvPr id="3" name="Text 1"/>
          <p:cNvSpPr/>
          <p:nvPr/>
        </p:nvSpPr>
        <p:spPr>
          <a:xfrm>
            <a:off x="758309" y="2930843"/>
            <a:ext cx="3426143" cy="356235"/>
          </a:xfrm>
          <a:prstGeom prst="rect">
            <a:avLst/>
          </a:prstGeom>
          <a:noFill/>
          <a:ln/>
        </p:spPr>
        <p:txBody>
          <a:bodyPr wrap="none" lIns="0" tIns="0" rIns="0" bIns="0" rtlCol="0" anchor="t"/>
          <a:lstStyle/>
          <a:p>
            <a:pPr algn="l" indent="0" marL="0">
              <a:lnSpc>
                <a:spcPts val="2800"/>
              </a:lnSpc>
              <a:buNone/>
            </a:pPr>
            <a:r>
              <a:rPr lang="en-US" sz="2200" dirty="0">
                <a:solidFill>
                  <a:srgbClr val="FAEBEB"/>
                </a:solidFill>
                <a:latin typeface="Dela Gothic One" pitchFamily="34" charset="0"/>
                <a:ea typeface="Dela Gothic One" pitchFamily="34" charset="-122"/>
                <a:cs typeface="Dela Gothic One" pitchFamily="34" charset="-120"/>
              </a:rPr>
              <a:t>Dataset Description</a:t>
            </a:r>
            <a:endParaRPr lang="en-US" sz="2200" dirty="0"/>
          </a:p>
        </p:txBody>
      </p:sp>
      <p:sp>
        <p:nvSpPr>
          <p:cNvPr id="4" name="Text 2"/>
          <p:cNvSpPr/>
          <p:nvPr/>
        </p:nvSpPr>
        <p:spPr>
          <a:xfrm>
            <a:off x="758309" y="3503652"/>
            <a:ext cx="6292572" cy="1386840"/>
          </a:xfrm>
          <a:prstGeom prst="rect">
            <a:avLst/>
          </a:prstGeom>
          <a:noFill/>
          <a:ln/>
        </p:spPr>
        <p:txBody>
          <a:bodyPr wrap="square" lIns="0" tIns="0" rIns="0" bIns="0" rtlCol="0" anchor="t"/>
          <a:lstStyle/>
          <a:p>
            <a:pPr algn="l" indent="0" marL="0">
              <a:lnSpc>
                <a:spcPts val="2700"/>
              </a:lnSpc>
              <a:buNone/>
            </a:pPr>
            <a:r>
              <a:rPr lang="en-US" sz="1700" dirty="0">
                <a:solidFill>
                  <a:srgbClr val="FFE5E5"/>
                </a:solidFill>
                <a:latin typeface="DM Sans" pitchFamily="34" charset="0"/>
                <a:ea typeface="DM Sans" pitchFamily="34" charset="-122"/>
                <a:cs typeface="DM Sans" pitchFamily="34" charset="-120"/>
              </a:rPr>
              <a:t>The project utilizes the 'netflix_titles.csv' dataset, which includes details about movies and TV shows on Netflix. Key attributes include title, type, director, cast, country, release year, rating, duration, and genre.</a:t>
            </a:r>
            <a:endParaRPr lang="en-US" sz="1700" dirty="0"/>
          </a:p>
        </p:txBody>
      </p:sp>
      <p:sp>
        <p:nvSpPr>
          <p:cNvPr id="5" name="Text 3"/>
          <p:cNvSpPr/>
          <p:nvPr/>
        </p:nvSpPr>
        <p:spPr>
          <a:xfrm>
            <a:off x="7587139" y="2930843"/>
            <a:ext cx="3928110" cy="356235"/>
          </a:xfrm>
          <a:prstGeom prst="rect">
            <a:avLst/>
          </a:prstGeom>
          <a:noFill/>
          <a:ln/>
        </p:spPr>
        <p:txBody>
          <a:bodyPr wrap="none" lIns="0" tIns="0" rIns="0" bIns="0" rtlCol="0" anchor="t"/>
          <a:lstStyle/>
          <a:p>
            <a:pPr algn="l" indent="0" marL="0">
              <a:lnSpc>
                <a:spcPts val="2800"/>
              </a:lnSpc>
              <a:buNone/>
            </a:pPr>
            <a:r>
              <a:rPr lang="en-US" sz="2200" dirty="0">
                <a:solidFill>
                  <a:srgbClr val="FAEBEB"/>
                </a:solidFill>
                <a:latin typeface="Dela Gothic One" pitchFamily="34" charset="0"/>
                <a:ea typeface="Dela Gothic One" pitchFamily="34" charset="-122"/>
                <a:cs typeface="Dela Gothic One" pitchFamily="34" charset="-120"/>
              </a:rPr>
              <a:t>Tools and Technologies</a:t>
            </a:r>
            <a:endParaRPr lang="en-US" sz="2200" dirty="0"/>
          </a:p>
        </p:txBody>
      </p:sp>
      <p:sp>
        <p:nvSpPr>
          <p:cNvPr id="6" name="Text 4"/>
          <p:cNvSpPr/>
          <p:nvPr/>
        </p:nvSpPr>
        <p:spPr>
          <a:xfrm>
            <a:off x="7587139" y="3503652"/>
            <a:ext cx="6292572" cy="346710"/>
          </a:xfrm>
          <a:prstGeom prst="rect">
            <a:avLst/>
          </a:prstGeom>
          <a:noFill/>
          <a:ln/>
        </p:spPr>
        <p:txBody>
          <a:bodyPr wrap="none" lIns="0" tIns="0" rIns="0" bIns="0" rtlCol="0" anchor="t"/>
          <a:lstStyle/>
          <a:p>
            <a:pPr algn="l" marL="342900" indent="-342900">
              <a:lnSpc>
                <a:spcPts val="2700"/>
              </a:lnSpc>
              <a:buSzPct val="100000"/>
              <a:buChar char="•"/>
            </a:pPr>
            <a:r>
              <a:rPr lang="en-US" sz="1700" dirty="0">
                <a:solidFill>
                  <a:srgbClr val="FFE5E5"/>
                </a:solidFill>
                <a:latin typeface="DM Sans" pitchFamily="34" charset="0"/>
                <a:ea typeface="DM Sans" pitchFamily="34" charset="-122"/>
                <a:cs typeface="DM Sans" pitchFamily="34" charset="-120"/>
              </a:rPr>
              <a:t>Python: For data analysis and cleaning</a:t>
            </a:r>
            <a:endParaRPr lang="en-US" sz="1700" dirty="0"/>
          </a:p>
        </p:txBody>
      </p:sp>
      <p:sp>
        <p:nvSpPr>
          <p:cNvPr id="7" name="Text 5"/>
          <p:cNvSpPr/>
          <p:nvPr/>
        </p:nvSpPr>
        <p:spPr>
          <a:xfrm>
            <a:off x="7587139" y="3926086"/>
            <a:ext cx="6292572" cy="346710"/>
          </a:xfrm>
          <a:prstGeom prst="rect">
            <a:avLst/>
          </a:prstGeom>
          <a:noFill/>
          <a:ln/>
        </p:spPr>
        <p:txBody>
          <a:bodyPr wrap="none" lIns="0" tIns="0" rIns="0" bIns="0" rtlCol="0" anchor="t"/>
          <a:lstStyle/>
          <a:p>
            <a:pPr algn="l" marL="342900" indent="-342900">
              <a:lnSpc>
                <a:spcPts val="2700"/>
              </a:lnSpc>
              <a:buSzPct val="100000"/>
              <a:buChar char="•"/>
            </a:pPr>
            <a:r>
              <a:rPr lang="en-US" sz="1700" dirty="0">
                <a:solidFill>
                  <a:srgbClr val="FFE5E5"/>
                </a:solidFill>
                <a:latin typeface="DM Sans" pitchFamily="34" charset="0"/>
                <a:ea typeface="DM Sans" pitchFamily="34" charset="-122"/>
                <a:cs typeface="DM Sans" pitchFamily="34" charset="-120"/>
              </a:rPr>
              <a:t>Jupyter Notebook: For writing and running Python code</a:t>
            </a:r>
            <a:endParaRPr lang="en-US" sz="1700" dirty="0"/>
          </a:p>
        </p:txBody>
      </p:sp>
      <p:sp>
        <p:nvSpPr>
          <p:cNvPr id="8" name="Text 6"/>
          <p:cNvSpPr/>
          <p:nvPr/>
        </p:nvSpPr>
        <p:spPr>
          <a:xfrm>
            <a:off x="7587139" y="4348520"/>
            <a:ext cx="6292572" cy="346710"/>
          </a:xfrm>
          <a:prstGeom prst="rect">
            <a:avLst/>
          </a:prstGeom>
          <a:noFill/>
          <a:ln/>
        </p:spPr>
        <p:txBody>
          <a:bodyPr wrap="none" lIns="0" tIns="0" rIns="0" bIns="0" rtlCol="0" anchor="t"/>
          <a:lstStyle/>
          <a:p>
            <a:pPr algn="l" marL="342900" indent="-342900">
              <a:lnSpc>
                <a:spcPts val="2700"/>
              </a:lnSpc>
              <a:buSzPct val="100000"/>
              <a:buChar char="•"/>
            </a:pPr>
            <a:r>
              <a:rPr lang="en-US" sz="1700" dirty="0">
                <a:solidFill>
                  <a:srgbClr val="FFE5E5"/>
                </a:solidFill>
                <a:latin typeface="DM Sans" pitchFamily="34" charset="0"/>
                <a:ea typeface="DM Sans" pitchFamily="34" charset="-122"/>
                <a:cs typeface="DM Sans" pitchFamily="34" charset="-120"/>
              </a:rPr>
              <a:t>Pandas: For data manipulation in table format</a:t>
            </a:r>
            <a:endParaRPr lang="en-US" sz="1700" dirty="0"/>
          </a:p>
        </p:txBody>
      </p:sp>
      <p:sp>
        <p:nvSpPr>
          <p:cNvPr id="9" name="Text 7"/>
          <p:cNvSpPr/>
          <p:nvPr/>
        </p:nvSpPr>
        <p:spPr>
          <a:xfrm>
            <a:off x="7587139" y="4770953"/>
            <a:ext cx="6292572" cy="346710"/>
          </a:xfrm>
          <a:prstGeom prst="rect">
            <a:avLst/>
          </a:prstGeom>
          <a:noFill/>
          <a:ln/>
        </p:spPr>
        <p:txBody>
          <a:bodyPr wrap="none" lIns="0" tIns="0" rIns="0" bIns="0" rtlCol="0" anchor="t"/>
          <a:lstStyle/>
          <a:p>
            <a:pPr algn="l" marL="342900" indent="-342900">
              <a:lnSpc>
                <a:spcPts val="2700"/>
              </a:lnSpc>
              <a:buSzPct val="100000"/>
              <a:buChar char="•"/>
            </a:pPr>
            <a:r>
              <a:rPr lang="en-US" sz="1700" dirty="0">
                <a:solidFill>
                  <a:srgbClr val="FFE5E5"/>
                </a:solidFill>
                <a:latin typeface="DM Sans" pitchFamily="34" charset="0"/>
                <a:ea typeface="DM Sans" pitchFamily="34" charset="-122"/>
                <a:cs typeface="DM Sans" pitchFamily="34" charset="-120"/>
              </a:rPr>
              <a:t>NumPy: For mathematical operations</a:t>
            </a:r>
            <a:endParaRPr lang="en-US" sz="1700" dirty="0"/>
          </a:p>
        </p:txBody>
      </p:sp>
      <p:sp>
        <p:nvSpPr>
          <p:cNvPr id="10" name="Text 8"/>
          <p:cNvSpPr/>
          <p:nvPr/>
        </p:nvSpPr>
        <p:spPr>
          <a:xfrm>
            <a:off x="7587139" y="5193387"/>
            <a:ext cx="6292572" cy="346710"/>
          </a:xfrm>
          <a:prstGeom prst="rect">
            <a:avLst/>
          </a:prstGeom>
          <a:noFill/>
          <a:ln/>
        </p:spPr>
        <p:txBody>
          <a:bodyPr wrap="none" lIns="0" tIns="0" rIns="0" bIns="0" rtlCol="0" anchor="t"/>
          <a:lstStyle/>
          <a:p>
            <a:pPr algn="l" marL="342900" indent="-342900">
              <a:lnSpc>
                <a:spcPts val="2700"/>
              </a:lnSpc>
              <a:buSzPct val="100000"/>
              <a:buChar char="•"/>
            </a:pPr>
            <a:r>
              <a:rPr lang="en-US" sz="1700" dirty="0">
                <a:solidFill>
                  <a:srgbClr val="FFE5E5"/>
                </a:solidFill>
                <a:latin typeface="DM Sans" pitchFamily="34" charset="0"/>
                <a:ea typeface="DM Sans" pitchFamily="34" charset="-122"/>
                <a:cs typeface="DM Sans" pitchFamily="34" charset="-120"/>
              </a:rPr>
              <a:t>Plotly Express: For creating charts and graphs</a:t>
            </a:r>
            <a:endParaRPr lang="en-US" sz="1700" dirty="0"/>
          </a:p>
        </p:txBody>
      </p:sp>
      <p:sp>
        <p:nvSpPr>
          <p:cNvPr id="11" name="Text 9"/>
          <p:cNvSpPr/>
          <p:nvPr/>
        </p:nvSpPr>
        <p:spPr>
          <a:xfrm>
            <a:off x="758309" y="5859542"/>
            <a:ext cx="13113782" cy="693420"/>
          </a:xfrm>
          <a:prstGeom prst="rect">
            <a:avLst/>
          </a:prstGeom>
          <a:noFill/>
          <a:ln/>
        </p:spPr>
        <p:txBody>
          <a:bodyPr wrap="square" lIns="0" tIns="0" rIns="0" bIns="0" rtlCol="0" anchor="t"/>
          <a:lstStyle/>
          <a:p>
            <a:pPr algn="l" indent="0" marL="0">
              <a:lnSpc>
                <a:spcPts val="2700"/>
              </a:lnSpc>
              <a:buNone/>
            </a:pPr>
            <a:r>
              <a:rPr lang="en-US" sz="1700" dirty="0">
                <a:solidFill>
                  <a:srgbClr val="FFE5E5"/>
                </a:solidFill>
                <a:latin typeface="DM Sans" pitchFamily="34" charset="0"/>
                <a:ea typeface="DM Sans" pitchFamily="34" charset="-122"/>
                <a:cs typeface="DM Sans" pitchFamily="34" charset="-120"/>
              </a:rPr>
              <a:t>This project uses a dataset called ‘netflix\_titles.csv’. It contains details about movies and TV shows available on Netflix. Some of the main details in the dataset are title, type, director and cast, country, release year, rating, duration and genre.</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44709" y="673775"/>
            <a:ext cx="7627382" cy="1069181"/>
          </a:xfrm>
          <a:prstGeom prst="rect">
            <a:avLst/>
          </a:prstGeom>
          <a:noFill/>
          <a:ln/>
        </p:spPr>
        <p:txBody>
          <a:bodyPr wrap="square" lIns="0" tIns="0" rIns="0" bIns="0" rtlCol="0" anchor="t"/>
          <a:lstStyle/>
          <a:p>
            <a:pPr algn="l" indent="0" marL="0">
              <a:lnSpc>
                <a:spcPts val="4200"/>
              </a:lnSpc>
              <a:buNone/>
            </a:pPr>
            <a:r>
              <a:rPr lang="en-US" sz="3350" dirty="0">
                <a:solidFill>
                  <a:srgbClr val="FAEBEB"/>
                </a:solidFill>
                <a:latin typeface="Dela Gothic One" pitchFamily="34" charset="0"/>
                <a:ea typeface="Dela Gothic One" pitchFamily="34" charset="-122"/>
                <a:cs typeface="Dela Gothic One" pitchFamily="34" charset="-120"/>
              </a:rPr>
              <a:t>Data Cleaning and Transformation</a:t>
            </a:r>
            <a:endParaRPr lang="en-US" sz="3350" dirty="0"/>
          </a:p>
        </p:txBody>
      </p:sp>
      <p:sp>
        <p:nvSpPr>
          <p:cNvPr id="4" name="Shape 1"/>
          <p:cNvSpPr/>
          <p:nvPr/>
        </p:nvSpPr>
        <p:spPr>
          <a:xfrm>
            <a:off x="6244709" y="1986677"/>
            <a:ext cx="7627382" cy="964763"/>
          </a:xfrm>
          <a:prstGeom prst="roundRect">
            <a:avLst>
              <a:gd name="adj" fmla="val 7074"/>
            </a:avLst>
          </a:prstGeom>
          <a:solidFill>
            <a:srgbClr val="740B0B"/>
          </a:solidFill>
          <a:ln w="7620">
            <a:solidFill>
              <a:srgbClr val="8D2424"/>
            </a:solidFill>
            <a:prstDash val="solid"/>
          </a:ln>
        </p:spPr>
      </p:sp>
      <p:sp>
        <p:nvSpPr>
          <p:cNvPr id="5" name="Text 2"/>
          <p:cNvSpPr/>
          <p:nvPr/>
        </p:nvSpPr>
        <p:spPr>
          <a:xfrm>
            <a:off x="6414730" y="2156698"/>
            <a:ext cx="2138005" cy="267295"/>
          </a:xfrm>
          <a:prstGeom prst="rect">
            <a:avLst/>
          </a:prstGeom>
          <a:noFill/>
          <a:ln/>
        </p:spPr>
        <p:txBody>
          <a:bodyPr wrap="none" lIns="0" tIns="0" rIns="0" bIns="0" rtlCol="0" anchor="t"/>
          <a:lstStyle/>
          <a:p>
            <a:pPr algn="l" indent="0" marL="0">
              <a:lnSpc>
                <a:spcPts val="2100"/>
              </a:lnSpc>
              <a:buNone/>
            </a:pPr>
            <a:r>
              <a:rPr lang="en-US" sz="1650" dirty="0">
                <a:solidFill>
                  <a:srgbClr val="FFE5E5"/>
                </a:solidFill>
                <a:latin typeface="Dela Gothic One" pitchFamily="34" charset="0"/>
                <a:ea typeface="Dela Gothic One" pitchFamily="34" charset="-122"/>
                <a:cs typeface="Dela Gothic One" pitchFamily="34" charset="-120"/>
              </a:rPr>
              <a:t>Missing Values</a:t>
            </a:r>
            <a:endParaRPr lang="en-US" sz="1650" dirty="0"/>
          </a:p>
        </p:txBody>
      </p:sp>
      <p:sp>
        <p:nvSpPr>
          <p:cNvPr id="6" name="Text 3"/>
          <p:cNvSpPr/>
          <p:nvPr/>
        </p:nvSpPr>
        <p:spPr>
          <a:xfrm>
            <a:off x="6414730" y="2521387"/>
            <a:ext cx="7287339" cy="260033"/>
          </a:xfrm>
          <a:prstGeom prst="rect">
            <a:avLst/>
          </a:prstGeom>
          <a:noFill/>
          <a:ln/>
        </p:spPr>
        <p:txBody>
          <a:bodyPr wrap="none" lIns="0" tIns="0" rIns="0" bIns="0" rtlCol="0" anchor="t"/>
          <a:lstStyle/>
          <a:p>
            <a:pPr algn="l" indent="0" marL="0">
              <a:lnSpc>
                <a:spcPts val="2000"/>
              </a:lnSpc>
              <a:buNone/>
            </a:pPr>
            <a:r>
              <a:rPr lang="en-US" sz="1250" dirty="0">
                <a:solidFill>
                  <a:srgbClr val="FFE5E5"/>
                </a:solidFill>
                <a:latin typeface="DM Sans" pitchFamily="34" charset="0"/>
                <a:ea typeface="DM Sans" pitchFamily="34" charset="-122"/>
                <a:cs typeface="DM Sans" pitchFamily="34" charset="-120"/>
              </a:rPr>
              <a:t>Removed rows with missing values to ensure data integrity.</a:t>
            </a:r>
            <a:endParaRPr lang="en-US" sz="1250" dirty="0"/>
          </a:p>
        </p:txBody>
      </p:sp>
      <p:sp>
        <p:nvSpPr>
          <p:cNvPr id="7" name="Shape 4"/>
          <p:cNvSpPr/>
          <p:nvPr/>
        </p:nvSpPr>
        <p:spPr>
          <a:xfrm>
            <a:off x="6244709" y="3113842"/>
            <a:ext cx="7627382" cy="964763"/>
          </a:xfrm>
          <a:prstGeom prst="roundRect">
            <a:avLst>
              <a:gd name="adj" fmla="val 7074"/>
            </a:avLst>
          </a:prstGeom>
          <a:solidFill>
            <a:srgbClr val="740B0B"/>
          </a:solidFill>
          <a:ln w="7620">
            <a:solidFill>
              <a:srgbClr val="8D2424"/>
            </a:solidFill>
            <a:prstDash val="solid"/>
          </a:ln>
        </p:spPr>
      </p:sp>
      <p:sp>
        <p:nvSpPr>
          <p:cNvPr id="8" name="Text 5"/>
          <p:cNvSpPr/>
          <p:nvPr/>
        </p:nvSpPr>
        <p:spPr>
          <a:xfrm>
            <a:off x="6414730" y="3283863"/>
            <a:ext cx="2823448" cy="267295"/>
          </a:xfrm>
          <a:prstGeom prst="rect">
            <a:avLst/>
          </a:prstGeom>
          <a:noFill/>
          <a:ln/>
        </p:spPr>
        <p:txBody>
          <a:bodyPr wrap="none" lIns="0" tIns="0" rIns="0" bIns="0" rtlCol="0" anchor="t"/>
          <a:lstStyle/>
          <a:p>
            <a:pPr algn="l" indent="0" marL="0">
              <a:lnSpc>
                <a:spcPts val="2100"/>
              </a:lnSpc>
              <a:buNone/>
            </a:pPr>
            <a:r>
              <a:rPr lang="en-US" sz="1650" dirty="0">
                <a:solidFill>
                  <a:srgbClr val="FFE5E5"/>
                </a:solidFill>
                <a:latin typeface="Dela Gothic One" pitchFamily="34" charset="0"/>
                <a:ea typeface="Dela Gothic One" pitchFamily="34" charset="-122"/>
                <a:cs typeface="Dela Gothic One" pitchFamily="34" charset="-120"/>
              </a:rPr>
              <a:t>Unnecessary Columns</a:t>
            </a:r>
            <a:endParaRPr lang="en-US" sz="1650" dirty="0"/>
          </a:p>
        </p:txBody>
      </p:sp>
      <p:sp>
        <p:nvSpPr>
          <p:cNvPr id="9" name="Text 6"/>
          <p:cNvSpPr/>
          <p:nvPr/>
        </p:nvSpPr>
        <p:spPr>
          <a:xfrm>
            <a:off x="6414730" y="3648551"/>
            <a:ext cx="7287339" cy="260033"/>
          </a:xfrm>
          <a:prstGeom prst="rect">
            <a:avLst/>
          </a:prstGeom>
          <a:noFill/>
          <a:ln/>
        </p:spPr>
        <p:txBody>
          <a:bodyPr wrap="none" lIns="0" tIns="0" rIns="0" bIns="0" rtlCol="0" anchor="t"/>
          <a:lstStyle/>
          <a:p>
            <a:pPr algn="l" indent="0" marL="0">
              <a:lnSpc>
                <a:spcPts val="2000"/>
              </a:lnSpc>
              <a:buNone/>
            </a:pPr>
            <a:r>
              <a:rPr lang="en-US" sz="1250" dirty="0">
                <a:solidFill>
                  <a:srgbClr val="FFE5E5"/>
                </a:solidFill>
                <a:latin typeface="DM Sans" pitchFamily="34" charset="0"/>
                <a:ea typeface="DM Sans" pitchFamily="34" charset="-122"/>
                <a:cs typeface="DM Sans" pitchFamily="34" charset="-120"/>
              </a:rPr>
              <a:t>Dropped columns that were not relevant to the analysis.</a:t>
            </a:r>
            <a:endParaRPr lang="en-US" sz="1250" dirty="0"/>
          </a:p>
        </p:txBody>
      </p:sp>
      <p:sp>
        <p:nvSpPr>
          <p:cNvPr id="10" name="Shape 7"/>
          <p:cNvSpPr/>
          <p:nvPr/>
        </p:nvSpPr>
        <p:spPr>
          <a:xfrm>
            <a:off x="6244709" y="4241006"/>
            <a:ext cx="7627382" cy="964763"/>
          </a:xfrm>
          <a:prstGeom prst="roundRect">
            <a:avLst>
              <a:gd name="adj" fmla="val 7074"/>
            </a:avLst>
          </a:prstGeom>
          <a:solidFill>
            <a:srgbClr val="740B0B"/>
          </a:solidFill>
          <a:ln w="7620">
            <a:solidFill>
              <a:srgbClr val="8D2424"/>
            </a:solidFill>
            <a:prstDash val="solid"/>
          </a:ln>
        </p:spPr>
      </p:sp>
      <p:sp>
        <p:nvSpPr>
          <p:cNvPr id="11" name="Text 8"/>
          <p:cNvSpPr/>
          <p:nvPr/>
        </p:nvSpPr>
        <p:spPr>
          <a:xfrm>
            <a:off x="6414730" y="4411028"/>
            <a:ext cx="2138005" cy="267295"/>
          </a:xfrm>
          <a:prstGeom prst="rect">
            <a:avLst/>
          </a:prstGeom>
          <a:noFill/>
          <a:ln/>
        </p:spPr>
        <p:txBody>
          <a:bodyPr wrap="none" lIns="0" tIns="0" rIns="0" bIns="0" rtlCol="0" anchor="t"/>
          <a:lstStyle/>
          <a:p>
            <a:pPr algn="l" indent="0" marL="0">
              <a:lnSpc>
                <a:spcPts val="2100"/>
              </a:lnSpc>
              <a:buNone/>
            </a:pPr>
            <a:r>
              <a:rPr lang="en-US" sz="1650" dirty="0">
                <a:solidFill>
                  <a:srgbClr val="FFE5E5"/>
                </a:solidFill>
                <a:latin typeface="Dela Gothic One" pitchFamily="34" charset="0"/>
                <a:ea typeface="Dela Gothic One" pitchFamily="34" charset="-122"/>
                <a:cs typeface="Dela Gothic One" pitchFamily="34" charset="-120"/>
              </a:rPr>
              <a:t>Date Formatting</a:t>
            </a:r>
            <a:endParaRPr lang="en-US" sz="1650" dirty="0"/>
          </a:p>
        </p:txBody>
      </p:sp>
      <p:sp>
        <p:nvSpPr>
          <p:cNvPr id="12" name="Text 9"/>
          <p:cNvSpPr/>
          <p:nvPr/>
        </p:nvSpPr>
        <p:spPr>
          <a:xfrm>
            <a:off x="6414730" y="4775716"/>
            <a:ext cx="7287339" cy="260033"/>
          </a:xfrm>
          <a:prstGeom prst="rect">
            <a:avLst/>
          </a:prstGeom>
          <a:noFill/>
          <a:ln/>
        </p:spPr>
        <p:txBody>
          <a:bodyPr wrap="none" lIns="0" tIns="0" rIns="0" bIns="0" rtlCol="0" anchor="t"/>
          <a:lstStyle/>
          <a:p>
            <a:pPr algn="l" indent="0" marL="0">
              <a:lnSpc>
                <a:spcPts val="2000"/>
              </a:lnSpc>
              <a:buNone/>
            </a:pPr>
            <a:r>
              <a:rPr lang="en-US" sz="1250" dirty="0">
                <a:solidFill>
                  <a:srgbClr val="FFE5E5"/>
                </a:solidFill>
                <a:latin typeface="DM Sans" pitchFamily="34" charset="0"/>
                <a:ea typeface="DM Sans" pitchFamily="34" charset="-122"/>
                <a:cs typeface="DM Sans" pitchFamily="34" charset="-120"/>
              </a:rPr>
              <a:t>Transformed date formats to a proper year format for consistency.</a:t>
            </a:r>
            <a:endParaRPr lang="en-US" sz="1250" dirty="0"/>
          </a:p>
        </p:txBody>
      </p:sp>
      <p:sp>
        <p:nvSpPr>
          <p:cNvPr id="13" name="Shape 10"/>
          <p:cNvSpPr/>
          <p:nvPr/>
        </p:nvSpPr>
        <p:spPr>
          <a:xfrm>
            <a:off x="6244709" y="5368171"/>
            <a:ext cx="7627382" cy="964763"/>
          </a:xfrm>
          <a:prstGeom prst="roundRect">
            <a:avLst>
              <a:gd name="adj" fmla="val 7074"/>
            </a:avLst>
          </a:prstGeom>
          <a:solidFill>
            <a:srgbClr val="740B0B"/>
          </a:solidFill>
          <a:ln w="7620">
            <a:solidFill>
              <a:srgbClr val="8D2424"/>
            </a:solidFill>
            <a:prstDash val="solid"/>
          </a:ln>
        </p:spPr>
      </p:sp>
      <p:sp>
        <p:nvSpPr>
          <p:cNvPr id="14" name="Text 11"/>
          <p:cNvSpPr/>
          <p:nvPr/>
        </p:nvSpPr>
        <p:spPr>
          <a:xfrm>
            <a:off x="6414730" y="5538192"/>
            <a:ext cx="2138005" cy="267295"/>
          </a:xfrm>
          <a:prstGeom prst="rect">
            <a:avLst/>
          </a:prstGeom>
          <a:noFill/>
          <a:ln/>
        </p:spPr>
        <p:txBody>
          <a:bodyPr wrap="none" lIns="0" tIns="0" rIns="0" bIns="0" rtlCol="0" anchor="t"/>
          <a:lstStyle/>
          <a:p>
            <a:pPr algn="l" indent="0" marL="0">
              <a:lnSpc>
                <a:spcPts val="2100"/>
              </a:lnSpc>
              <a:buNone/>
            </a:pPr>
            <a:r>
              <a:rPr lang="en-US" sz="1650" dirty="0">
                <a:solidFill>
                  <a:srgbClr val="FFE5E5"/>
                </a:solidFill>
                <a:latin typeface="Dela Gothic One" pitchFamily="34" charset="0"/>
                <a:ea typeface="Dela Gothic One" pitchFamily="34" charset="-122"/>
                <a:cs typeface="Dela Gothic One" pitchFamily="34" charset="-120"/>
              </a:rPr>
              <a:t>Duplicates</a:t>
            </a:r>
            <a:endParaRPr lang="en-US" sz="1650" dirty="0"/>
          </a:p>
        </p:txBody>
      </p:sp>
      <p:sp>
        <p:nvSpPr>
          <p:cNvPr id="15" name="Text 12"/>
          <p:cNvSpPr/>
          <p:nvPr/>
        </p:nvSpPr>
        <p:spPr>
          <a:xfrm>
            <a:off x="6414730" y="5902881"/>
            <a:ext cx="7287339" cy="260033"/>
          </a:xfrm>
          <a:prstGeom prst="rect">
            <a:avLst/>
          </a:prstGeom>
          <a:noFill/>
          <a:ln/>
        </p:spPr>
        <p:txBody>
          <a:bodyPr wrap="none" lIns="0" tIns="0" rIns="0" bIns="0" rtlCol="0" anchor="t"/>
          <a:lstStyle/>
          <a:p>
            <a:pPr algn="l" indent="0" marL="0">
              <a:lnSpc>
                <a:spcPts val="2000"/>
              </a:lnSpc>
              <a:buNone/>
            </a:pPr>
            <a:r>
              <a:rPr lang="en-US" sz="1250" dirty="0">
                <a:solidFill>
                  <a:srgbClr val="FFE5E5"/>
                </a:solidFill>
                <a:latin typeface="DM Sans" pitchFamily="34" charset="0"/>
                <a:ea typeface="DM Sans" pitchFamily="34" charset="-122"/>
                <a:cs typeface="DM Sans" pitchFamily="34" charset="-120"/>
              </a:rPr>
              <a:t>Removed duplicate rows to avoid skewed analysis results.</a:t>
            </a:r>
            <a:endParaRPr lang="en-US" sz="1250" dirty="0"/>
          </a:p>
        </p:txBody>
      </p:sp>
      <p:sp>
        <p:nvSpPr>
          <p:cNvPr id="16" name="Text 13"/>
          <p:cNvSpPr/>
          <p:nvPr/>
        </p:nvSpPr>
        <p:spPr>
          <a:xfrm>
            <a:off x="6244709" y="6515695"/>
            <a:ext cx="7627382" cy="1040130"/>
          </a:xfrm>
          <a:prstGeom prst="rect">
            <a:avLst/>
          </a:prstGeom>
          <a:noFill/>
          <a:ln/>
        </p:spPr>
        <p:txBody>
          <a:bodyPr wrap="square" lIns="0" tIns="0" rIns="0" bIns="0" rtlCol="0" anchor="t"/>
          <a:lstStyle/>
          <a:p>
            <a:pPr algn="l" indent="0" marL="0">
              <a:lnSpc>
                <a:spcPts val="2000"/>
              </a:lnSpc>
              <a:buNone/>
            </a:pPr>
            <a:r>
              <a:rPr lang="en-US" sz="1250" dirty="0">
                <a:solidFill>
                  <a:srgbClr val="FFE5E5"/>
                </a:solidFill>
                <a:latin typeface="DM Sans" pitchFamily="34" charset="0"/>
                <a:ea typeface="DM Sans" pitchFamily="34" charset="-122"/>
                <a:cs typeface="DM Sans" pitchFamily="34" charset="-120"/>
              </a:rPr>
              <a:t>Before analyzing, we cleaned the data by removing rows with missing values, dropping columns we did not need, changing the date format to proper year format, renaming columns for better understanding and removing duplicate rows. We also selected only the first genre if multiple genres were listed.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58309" y="607100"/>
            <a:ext cx="7627382" cy="1282779"/>
          </a:xfrm>
          <a:prstGeom prst="rect">
            <a:avLst/>
          </a:prstGeom>
          <a:noFill/>
          <a:ln/>
        </p:spPr>
        <p:txBody>
          <a:bodyPr wrap="square" lIns="0" tIns="0" rIns="0" bIns="0" rtlCol="0" anchor="t"/>
          <a:lstStyle/>
          <a:p>
            <a:pPr algn="l" indent="0" marL="0">
              <a:lnSpc>
                <a:spcPts val="5050"/>
              </a:lnSpc>
              <a:buNone/>
            </a:pPr>
            <a:r>
              <a:rPr lang="en-US" sz="4000" dirty="0">
                <a:solidFill>
                  <a:srgbClr val="FAEBEB"/>
                </a:solidFill>
                <a:latin typeface="Dela Gothic One" pitchFamily="34" charset="0"/>
                <a:ea typeface="Dela Gothic One" pitchFamily="34" charset="-122"/>
                <a:cs typeface="Dela Gothic One" pitchFamily="34" charset="-120"/>
              </a:rPr>
              <a:t>Analysis Modules and Logic</a:t>
            </a:r>
            <a:endParaRPr lang="en-US" sz="4000" dirty="0"/>
          </a:p>
        </p:txBody>
      </p:sp>
      <p:pic>
        <p:nvPicPr>
          <p:cNvPr id="4" name="Image 1" descr="preencoded.png">    </p:cNvPr>
          <p:cNvPicPr>
            <a:picLocks noChangeAspect="1"/>
          </p:cNvPicPr>
          <p:nvPr/>
        </p:nvPicPr>
        <p:blipFill>
          <a:blip r:embed="rId2"/>
          <a:stretch>
            <a:fillRect/>
          </a:stretch>
        </p:blipFill>
        <p:spPr>
          <a:xfrm>
            <a:off x="758309" y="2216348"/>
            <a:ext cx="487442" cy="487442"/>
          </a:xfrm>
          <a:prstGeom prst="rect">
            <a:avLst/>
          </a:prstGeom>
        </p:spPr>
      </p:pic>
      <p:sp>
        <p:nvSpPr>
          <p:cNvPr id="5" name="Text 1"/>
          <p:cNvSpPr/>
          <p:nvPr/>
        </p:nvSpPr>
        <p:spPr>
          <a:xfrm>
            <a:off x="1440656" y="2182297"/>
            <a:ext cx="1665089" cy="641271"/>
          </a:xfrm>
          <a:prstGeom prst="rect">
            <a:avLst/>
          </a:prstGeom>
          <a:noFill/>
          <a:ln/>
        </p:spPr>
        <p:txBody>
          <a:bodyPr wrap="square" lIns="0" tIns="0" rIns="0" bIns="0" rtlCol="0" anchor="t"/>
          <a:lstStyle/>
          <a:p>
            <a:pPr algn="l" indent="0" marL="0">
              <a:lnSpc>
                <a:spcPts val="2500"/>
              </a:lnSpc>
              <a:buNone/>
            </a:pPr>
            <a:r>
              <a:rPr lang="en-US" sz="2000" dirty="0">
                <a:solidFill>
                  <a:srgbClr val="FFE5E5"/>
                </a:solidFill>
                <a:latin typeface="Dela Gothic One" pitchFamily="34" charset="0"/>
                <a:ea typeface="Dela Gothic One" pitchFamily="34" charset="-122"/>
                <a:cs typeface="Dela Gothic One" pitchFamily="34" charset="-120"/>
              </a:rPr>
              <a:t>Content Ratio</a:t>
            </a:r>
            <a:endParaRPr lang="en-US" sz="2000" dirty="0"/>
          </a:p>
        </p:txBody>
      </p:sp>
      <p:sp>
        <p:nvSpPr>
          <p:cNvPr id="6" name="Text 2"/>
          <p:cNvSpPr/>
          <p:nvPr/>
        </p:nvSpPr>
        <p:spPr>
          <a:xfrm>
            <a:off x="1440656" y="2940487"/>
            <a:ext cx="1665089" cy="623887"/>
          </a:xfrm>
          <a:prstGeom prst="rect">
            <a:avLst/>
          </a:prstGeom>
          <a:noFill/>
          <a:ln/>
        </p:spPr>
        <p:txBody>
          <a:bodyPr wrap="square" lIns="0" tIns="0" rIns="0" bIns="0" rtlCol="0" anchor="t"/>
          <a:lstStyle/>
          <a:p>
            <a:pPr algn="l" indent="0" marL="0">
              <a:lnSpc>
                <a:spcPts val="2450"/>
              </a:lnSpc>
              <a:buNone/>
            </a:pPr>
            <a:r>
              <a:rPr lang="en-US" sz="1500" dirty="0">
                <a:solidFill>
                  <a:srgbClr val="FFE5E5"/>
                </a:solidFill>
                <a:latin typeface="DM Sans" pitchFamily="34" charset="0"/>
                <a:ea typeface="DM Sans" pitchFamily="34" charset="-122"/>
                <a:cs typeface="DM Sans" pitchFamily="34" charset="-120"/>
              </a:rPr>
              <a:t>Movies vs. TV Shows</a:t>
            </a:r>
            <a:endParaRPr lang="en-US" sz="1500" dirty="0"/>
          </a:p>
        </p:txBody>
      </p:sp>
      <p:pic>
        <p:nvPicPr>
          <p:cNvPr id="7" name="Image 2" descr="preencoded.png">    </p:cNvPr>
          <p:cNvPicPr>
            <a:picLocks noChangeAspect="1"/>
          </p:cNvPicPr>
          <p:nvPr/>
        </p:nvPicPr>
        <p:blipFill>
          <a:blip r:embed="rId3"/>
          <a:stretch>
            <a:fillRect/>
          </a:stretch>
        </p:blipFill>
        <p:spPr>
          <a:xfrm>
            <a:off x="3398163" y="2216348"/>
            <a:ext cx="487442" cy="487442"/>
          </a:xfrm>
          <a:prstGeom prst="rect">
            <a:avLst/>
          </a:prstGeom>
        </p:spPr>
      </p:pic>
      <p:sp>
        <p:nvSpPr>
          <p:cNvPr id="8" name="Text 3"/>
          <p:cNvSpPr/>
          <p:nvPr/>
        </p:nvSpPr>
        <p:spPr>
          <a:xfrm>
            <a:off x="4080510" y="2182297"/>
            <a:ext cx="1665208" cy="641271"/>
          </a:xfrm>
          <a:prstGeom prst="rect">
            <a:avLst/>
          </a:prstGeom>
          <a:noFill/>
          <a:ln/>
        </p:spPr>
        <p:txBody>
          <a:bodyPr wrap="square" lIns="0" tIns="0" rIns="0" bIns="0" rtlCol="0" anchor="t"/>
          <a:lstStyle/>
          <a:p>
            <a:pPr algn="l" indent="0" marL="0">
              <a:lnSpc>
                <a:spcPts val="2500"/>
              </a:lnSpc>
              <a:buNone/>
            </a:pPr>
            <a:r>
              <a:rPr lang="en-US" sz="2000" dirty="0">
                <a:solidFill>
                  <a:srgbClr val="FFE5E5"/>
                </a:solidFill>
                <a:latin typeface="Dela Gothic One" pitchFamily="34" charset="0"/>
                <a:ea typeface="Dela Gothic One" pitchFamily="34" charset="-122"/>
                <a:cs typeface="Dela Gothic One" pitchFamily="34" charset="-120"/>
              </a:rPr>
              <a:t>Top Directors</a:t>
            </a:r>
            <a:endParaRPr lang="en-US" sz="2000" dirty="0"/>
          </a:p>
        </p:txBody>
      </p:sp>
      <p:sp>
        <p:nvSpPr>
          <p:cNvPr id="9" name="Text 4"/>
          <p:cNvSpPr/>
          <p:nvPr/>
        </p:nvSpPr>
        <p:spPr>
          <a:xfrm>
            <a:off x="4080510" y="2940487"/>
            <a:ext cx="1665208" cy="623887"/>
          </a:xfrm>
          <a:prstGeom prst="rect">
            <a:avLst/>
          </a:prstGeom>
          <a:noFill/>
          <a:ln/>
        </p:spPr>
        <p:txBody>
          <a:bodyPr wrap="square" lIns="0" tIns="0" rIns="0" bIns="0" rtlCol="0" anchor="t"/>
          <a:lstStyle/>
          <a:p>
            <a:pPr algn="l" indent="0" marL="0">
              <a:lnSpc>
                <a:spcPts val="2450"/>
              </a:lnSpc>
              <a:buNone/>
            </a:pPr>
            <a:r>
              <a:rPr lang="en-US" sz="1500" dirty="0">
                <a:solidFill>
                  <a:srgbClr val="FFE5E5"/>
                </a:solidFill>
                <a:latin typeface="DM Sans" pitchFamily="34" charset="0"/>
                <a:ea typeface="DM Sans" pitchFamily="34" charset="-122"/>
                <a:cs typeface="DM Sans" pitchFamily="34" charset="-120"/>
              </a:rPr>
              <a:t>Directors with most titles</a:t>
            </a:r>
            <a:endParaRPr lang="en-US" sz="1500" dirty="0"/>
          </a:p>
        </p:txBody>
      </p:sp>
      <p:pic>
        <p:nvPicPr>
          <p:cNvPr id="10" name="Image 3" descr="preencoded.png">    </p:cNvPr>
          <p:cNvPicPr>
            <a:picLocks noChangeAspect="1"/>
          </p:cNvPicPr>
          <p:nvPr/>
        </p:nvPicPr>
        <p:blipFill>
          <a:blip r:embed="rId4"/>
          <a:stretch>
            <a:fillRect/>
          </a:stretch>
        </p:blipFill>
        <p:spPr>
          <a:xfrm>
            <a:off x="6038136" y="2216348"/>
            <a:ext cx="487442" cy="487442"/>
          </a:xfrm>
          <a:prstGeom prst="rect">
            <a:avLst/>
          </a:prstGeom>
        </p:spPr>
      </p:pic>
      <p:sp>
        <p:nvSpPr>
          <p:cNvPr id="11" name="Text 5"/>
          <p:cNvSpPr/>
          <p:nvPr/>
        </p:nvSpPr>
        <p:spPr>
          <a:xfrm>
            <a:off x="6720483" y="2182297"/>
            <a:ext cx="1665208" cy="641271"/>
          </a:xfrm>
          <a:prstGeom prst="rect">
            <a:avLst/>
          </a:prstGeom>
          <a:noFill/>
          <a:ln/>
        </p:spPr>
        <p:txBody>
          <a:bodyPr wrap="square" lIns="0" tIns="0" rIns="0" bIns="0" rtlCol="0" anchor="t"/>
          <a:lstStyle/>
          <a:p>
            <a:pPr algn="l" indent="0" marL="0">
              <a:lnSpc>
                <a:spcPts val="2500"/>
              </a:lnSpc>
              <a:buNone/>
            </a:pPr>
            <a:r>
              <a:rPr lang="en-US" sz="2000" dirty="0">
                <a:solidFill>
                  <a:srgbClr val="FFE5E5"/>
                </a:solidFill>
                <a:latin typeface="Dela Gothic One" pitchFamily="34" charset="0"/>
                <a:ea typeface="Dela Gothic One" pitchFamily="34" charset="-122"/>
                <a:cs typeface="Dela Gothic One" pitchFamily="34" charset="-120"/>
              </a:rPr>
              <a:t>Common Genres</a:t>
            </a:r>
            <a:endParaRPr lang="en-US" sz="2000" dirty="0"/>
          </a:p>
        </p:txBody>
      </p:sp>
      <p:sp>
        <p:nvSpPr>
          <p:cNvPr id="12" name="Text 6"/>
          <p:cNvSpPr/>
          <p:nvPr/>
        </p:nvSpPr>
        <p:spPr>
          <a:xfrm>
            <a:off x="6720483" y="2940487"/>
            <a:ext cx="1665208" cy="623887"/>
          </a:xfrm>
          <a:prstGeom prst="rect">
            <a:avLst/>
          </a:prstGeom>
          <a:noFill/>
          <a:ln/>
        </p:spPr>
        <p:txBody>
          <a:bodyPr wrap="square" lIns="0" tIns="0" rIns="0" bIns="0" rtlCol="0" anchor="t"/>
          <a:lstStyle/>
          <a:p>
            <a:pPr algn="l" indent="0" marL="0">
              <a:lnSpc>
                <a:spcPts val="2450"/>
              </a:lnSpc>
              <a:buNone/>
            </a:pPr>
            <a:r>
              <a:rPr lang="en-US" sz="1500" dirty="0">
                <a:solidFill>
                  <a:srgbClr val="FFE5E5"/>
                </a:solidFill>
                <a:latin typeface="DM Sans" pitchFamily="34" charset="0"/>
                <a:ea typeface="DM Sans" pitchFamily="34" charset="-122"/>
                <a:cs typeface="DM Sans" pitchFamily="34" charset="-120"/>
              </a:rPr>
              <a:t>Most popular genres</a:t>
            </a:r>
            <a:endParaRPr lang="en-US" sz="1500" dirty="0"/>
          </a:p>
        </p:txBody>
      </p:sp>
      <p:pic>
        <p:nvPicPr>
          <p:cNvPr id="13" name="Image 4" descr="preencoded.png">    </p:cNvPr>
          <p:cNvPicPr>
            <a:picLocks noChangeAspect="1"/>
          </p:cNvPicPr>
          <p:nvPr/>
        </p:nvPicPr>
        <p:blipFill>
          <a:blip r:embed="rId5"/>
          <a:stretch>
            <a:fillRect/>
          </a:stretch>
        </p:blipFill>
        <p:spPr>
          <a:xfrm>
            <a:off x="758309" y="4183380"/>
            <a:ext cx="487442" cy="487442"/>
          </a:xfrm>
          <a:prstGeom prst="rect">
            <a:avLst/>
          </a:prstGeom>
        </p:spPr>
      </p:pic>
      <p:sp>
        <p:nvSpPr>
          <p:cNvPr id="14" name="Text 7"/>
          <p:cNvSpPr/>
          <p:nvPr/>
        </p:nvSpPr>
        <p:spPr>
          <a:xfrm>
            <a:off x="1440656" y="4149328"/>
            <a:ext cx="1665089" cy="641271"/>
          </a:xfrm>
          <a:prstGeom prst="rect">
            <a:avLst/>
          </a:prstGeom>
          <a:noFill/>
          <a:ln/>
        </p:spPr>
        <p:txBody>
          <a:bodyPr wrap="square" lIns="0" tIns="0" rIns="0" bIns="0" rtlCol="0" anchor="t"/>
          <a:lstStyle/>
          <a:p>
            <a:pPr algn="l" indent="0" marL="0">
              <a:lnSpc>
                <a:spcPts val="2500"/>
              </a:lnSpc>
              <a:buNone/>
            </a:pPr>
            <a:r>
              <a:rPr lang="en-US" sz="2000" dirty="0">
                <a:solidFill>
                  <a:srgbClr val="FFE5E5"/>
                </a:solidFill>
                <a:latin typeface="Dela Gothic One" pitchFamily="34" charset="0"/>
                <a:ea typeface="Dela Gothic One" pitchFamily="34" charset="-122"/>
                <a:cs typeface="Dela Gothic One" pitchFamily="34" charset="-120"/>
              </a:rPr>
              <a:t>Country Content</a:t>
            </a:r>
            <a:endParaRPr lang="en-US" sz="2000" dirty="0"/>
          </a:p>
        </p:txBody>
      </p:sp>
      <p:sp>
        <p:nvSpPr>
          <p:cNvPr id="15" name="Text 8"/>
          <p:cNvSpPr/>
          <p:nvPr/>
        </p:nvSpPr>
        <p:spPr>
          <a:xfrm>
            <a:off x="1440656" y="4907518"/>
            <a:ext cx="1665089" cy="623887"/>
          </a:xfrm>
          <a:prstGeom prst="rect">
            <a:avLst/>
          </a:prstGeom>
          <a:noFill/>
          <a:ln/>
        </p:spPr>
        <p:txBody>
          <a:bodyPr wrap="square" lIns="0" tIns="0" rIns="0" bIns="0" rtlCol="0" anchor="t"/>
          <a:lstStyle/>
          <a:p>
            <a:pPr algn="l" indent="0" marL="0">
              <a:lnSpc>
                <a:spcPts val="2450"/>
              </a:lnSpc>
              <a:buNone/>
            </a:pPr>
            <a:r>
              <a:rPr lang="en-US" sz="1500" dirty="0">
                <a:solidFill>
                  <a:srgbClr val="FFE5E5"/>
                </a:solidFill>
                <a:latin typeface="DM Sans" pitchFamily="34" charset="0"/>
                <a:ea typeface="DM Sans" pitchFamily="34" charset="-122"/>
                <a:cs typeface="DM Sans" pitchFamily="34" charset="-120"/>
              </a:rPr>
              <a:t>Content by country</a:t>
            </a:r>
            <a:endParaRPr lang="en-US" sz="1500" dirty="0"/>
          </a:p>
        </p:txBody>
      </p:sp>
      <p:sp>
        <p:nvSpPr>
          <p:cNvPr id="16" name="Text 9"/>
          <p:cNvSpPr/>
          <p:nvPr/>
        </p:nvSpPr>
        <p:spPr>
          <a:xfrm>
            <a:off x="758309" y="5750719"/>
            <a:ext cx="7627382" cy="1871663"/>
          </a:xfrm>
          <a:prstGeom prst="rect">
            <a:avLst/>
          </a:prstGeom>
          <a:noFill/>
          <a:ln/>
        </p:spPr>
        <p:txBody>
          <a:bodyPr wrap="square" lIns="0" tIns="0" rIns="0" bIns="0" rtlCol="0" anchor="t"/>
          <a:lstStyle/>
          <a:p>
            <a:pPr algn="l" indent="0" marL="0">
              <a:lnSpc>
                <a:spcPts val="2450"/>
              </a:lnSpc>
              <a:buNone/>
            </a:pPr>
            <a:r>
              <a:rPr lang="en-US" sz="1500" dirty="0">
                <a:solidFill>
                  <a:srgbClr val="FFE5E5"/>
                </a:solidFill>
                <a:latin typeface="DM Sans" pitchFamily="34" charset="0"/>
                <a:ea typeface="DM Sans" pitchFamily="34" charset="-122"/>
                <a:cs typeface="DM Sans" pitchFamily="34" charset="-120"/>
              </a:rPr>
              <a:t>We performed different types of analysis on the dataset. Here are some of them: Count of Movies vs TV Shows using a pie chart, Top 5 directors with most titles using a bar chart, Most common genres like Drama and Comedy, Countries that have the most content like USA and India, Rating distribution like TV-MA, PG, etc., Average duration of movies by genre, Number of titles released each year, Top genres in Indian content and Most common release years in USA content.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58309" y="881063"/>
            <a:ext cx="12446794" cy="570071"/>
          </a:xfrm>
          <a:prstGeom prst="rect">
            <a:avLst/>
          </a:prstGeom>
          <a:noFill/>
          <a:ln/>
        </p:spPr>
        <p:txBody>
          <a:bodyPr wrap="none" lIns="0" tIns="0" rIns="0" bIns="0" rtlCol="0" anchor="t"/>
          <a:lstStyle/>
          <a:p>
            <a:pPr algn="l" indent="0" marL="0">
              <a:lnSpc>
                <a:spcPts val="4450"/>
              </a:lnSpc>
              <a:buNone/>
            </a:pPr>
            <a:r>
              <a:rPr lang="en-US" sz="3550" b="1" dirty="0">
                <a:solidFill>
                  <a:srgbClr val="FAEBEB"/>
                </a:solidFill>
                <a:latin typeface="Dela Gothic One" pitchFamily="34" charset="0"/>
                <a:ea typeface="Dela Gothic One" pitchFamily="34" charset="-122"/>
                <a:cs typeface="Dela Gothic One" pitchFamily="34" charset="-120"/>
              </a:rPr>
              <a:t>Distribution of Movies and TV Shows on Netflix</a:t>
            </a:r>
            <a:endParaRPr lang="en-US" sz="3550" dirty="0"/>
          </a:p>
        </p:txBody>
      </p:sp>
      <p:pic>
        <p:nvPicPr>
          <p:cNvPr id="3" name="Image 0" descr="preencoded.png">    </p:cNvPr>
          <p:cNvPicPr>
            <a:picLocks noChangeAspect="1"/>
          </p:cNvPicPr>
          <p:nvPr/>
        </p:nvPicPr>
        <p:blipFill>
          <a:blip r:embed="rId1"/>
          <a:stretch>
            <a:fillRect/>
          </a:stretch>
        </p:blipFill>
        <p:spPr>
          <a:xfrm>
            <a:off x="2070973" y="1797725"/>
            <a:ext cx="10488335" cy="4597598"/>
          </a:xfrm>
          <a:prstGeom prst="rect">
            <a:avLst/>
          </a:prstGeom>
        </p:spPr>
      </p:pic>
      <p:sp>
        <p:nvSpPr>
          <p:cNvPr id="4" name="Shape 1"/>
          <p:cNvSpPr/>
          <p:nvPr/>
        </p:nvSpPr>
        <p:spPr>
          <a:xfrm>
            <a:off x="6442115" y="6425803"/>
            <a:ext cx="173236" cy="173236"/>
          </a:xfrm>
          <a:prstGeom prst="roundRect">
            <a:avLst>
              <a:gd name="adj" fmla="val 10557"/>
            </a:avLst>
          </a:prstGeom>
          <a:solidFill>
            <a:srgbClr val="540808"/>
          </a:solidFill>
          <a:ln/>
        </p:spPr>
      </p:sp>
      <p:sp>
        <p:nvSpPr>
          <p:cNvPr id="5" name="Text 2"/>
          <p:cNvSpPr/>
          <p:nvPr/>
        </p:nvSpPr>
        <p:spPr>
          <a:xfrm>
            <a:off x="6676311" y="6425803"/>
            <a:ext cx="562570" cy="173236"/>
          </a:xfrm>
          <a:prstGeom prst="rect">
            <a:avLst/>
          </a:prstGeom>
          <a:noFill/>
          <a:ln/>
        </p:spPr>
        <p:txBody>
          <a:bodyPr wrap="none" lIns="0" tIns="0" rIns="0" bIns="0" rtlCol="0" anchor="t"/>
          <a:lstStyle/>
          <a:p>
            <a:pPr algn="l" indent="0" marL="0">
              <a:lnSpc>
                <a:spcPts val="1350"/>
              </a:lnSpc>
              <a:buNone/>
            </a:pPr>
            <a:r>
              <a:rPr lang="en-US" sz="1350" dirty="0">
                <a:solidFill>
                  <a:srgbClr val="FFE5E5"/>
                </a:solidFill>
                <a:latin typeface="DM Sans" pitchFamily="34" charset="0"/>
                <a:ea typeface="DM Sans" pitchFamily="34" charset="-122"/>
                <a:cs typeface="DM Sans" pitchFamily="34" charset="-120"/>
              </a:rPr>
              <a:t>Movies</a:t>
            </a:r>
            <a:endParaRPr lang="en-US" sz="1350" dirty="0"/>
          </a:p>
        </p:txBody>
      </p:sp>
      <p:sp>
        <p:nvSpPr>
          <p:cNvPr id="6" name="Shape 3"/>
          <p:cNvSpPr/>
          <p:nvPr/>
        </p:nvSpPr>
        <p:spPr>
          <a:xfrm>
            <a:off x="7391281" y="6425803"/>
            <a:ext cx="173236" cy="173236"/>
          </a:xfrm>
          <a:prstGeom prst="roundRect">
            <a:avLst>
              <a:gd name="adj" fmla="val 10557"/>
            </a:avLst>
          </a:prstGeom>
          <a:solidFill>
            <a:srgbClr val="EC3434"/>
          </a:solidFill>
          <a:ln/>
        </p:spPr>
      </p:sp>
      <p:sp>
        <p:nvSpPr>
          <p:cNvPr id="7" name="Text 4"/>
          <p:cNvSpPr/>
          <p:nvPr/>
        </p:nvSpPr>
        <p:spPr>
          <a:xfrm>
            <a:off x="7625477" y="6425803"/>
            <a:ext cx="777835" cy="173236"/>
          </a:xfrm>
          <a:prstGeom prst="rect">
            <a:avLst/>
          </a:prstGeom>
          <a:noFill/>
          <a:ln/>
        </p:spPr>
        <p:txBody>
          <a:bodyPr wrap="none" lIns="0" tIns="0" rIns="0" bIns="0" rtlCol="0" anchor="t"/>
          <a:lstStyle/>
          <a:p>
            <a:pPr algn="l" indent="0" marL="0">
              <a:lnSpc>
                <a:spcPts val="1350"/>
              </a:lnSpc>
              <a:buNone/>
            </a:pPr>
            <a:r>
              <a:rPr lang="en-US" sz="1350" dirty="0">
                <a:solidFill>
                  <a:srgbClr val="FFE5E5"/>
                </a:solidFill>
                <a:latin typeface="DM Sans" pitchFamily="34" charset="0"/>
                <a:ea typeface="DM Sans" pitchFamily="34" charset="-122"/>
                <a:cs typeface="DM Sans" pitchFamily="34" charset="-120"/>
              </a:rPr>
              <a:t>TV Shows</a:t>
            </a:r>
            <a:endParaRPr lang="en-US" sz="1350" dirty="0"/>
          </a:p>
        </p:txBody>
      </p:sp>
      <p:sp>
        <p:nvSpPr>
          <p:cNvPr id="8" name="Text 5"/>
          <p:cNvSpPr/>
          <p:nvPr/>
        </p:nvSpPr>
        <p:spPr>
          <a:xfrm>
            <a:off x="758309" y="6793944"/>
            <a:ext cx="13113782" cy="554593"/>
          </a:xfrm>
          <a:prstGeom prst="rect">
            <a:avLst/>
          </a:prstGeom>
          <a:noFill/>
          <a:ln/>
        </p:spPr>
        <p:txBody>
          <a:bodyPr wrap="square" lIns="0" tIns="0" rIns="0" bIns="0" rtlCol="0" anchor="t"/>
          <a:lstStyle/>
          <a:p>
            <a:pPr algn="l" indent="0" marL="0">
              <a:lnSpc>
                <a:spcPts val="2150"/>
              </a:lnSpc>
              <a:buNone/>
            </a:pPr>
            <a:r>
              <a:rPr lang="en-US" sz="1350" dirty="0">
                <a:solidFill>
                  <a:srgbClr val="FFE5E5"/>
                </a:solidFill>
                <a:latin typeface="DM Sans" pitchFamily="34" charset="0"/>
                <a:ea typeface="DM Sans" pitchFamily="34" charset="-122"/>
                <a:cs typeface="DM Sans" pitchFamily="34" charset="-120"/>
              </a:rPr>
              <a:t>The pie chart shows the distribution of content on Netflix. As the data indicates, movies make up a significantly larger portion of the content compared to TV shows.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55452" y="593527"/>
            <a:ext cx="5942409" cy="532448"/>
          </a:xfrm>
          <a:prstGeom prst="rect">
            <a:avLst/>
          </a:prstGeom>
          <a:noFill/>
          <a:ln/>
        </p:spPr>
        <p:txBody>
          <a:bodyPr wrap="none" lIns="0" tIns="0" rIns="0" bIns="0" rtlCol="0" anchor="t"/>
          <a:lstStyle/>
          <a:p>
            <a:pPr algn="l" indent="0" marL="0">
              <a:lnSpc>
                <a:spcPts val="4150"/>
              </a:lnSpc>
              <a:buNone/>
            </a:pPr>
            <a:r>
              <a:rPr lang="en-US" sz="3350" dirty="0">
                <a:solidFill>
                  <a:srgbClr val="FAEBEB"/>
                </a:solidFill>
                <a:latin typeface="Dela Gothic One" pitchFamily="34" charset="0"/>
                <a:ea typeface="Dela Gothic One" pitchFamily="34" charset="-122"/>
                <a:cs typeface="Dela Gothic One" pitchFamily="34" charset="-120"/>
              </a:rPr>
              <a:t>Top Directors on Netflix</a:t>
            </a:r>
            <a:endParaRPr lang="en-US" sz="3350" dirty="0"/>
          </a:p>
        </p:txBody>
      </p:sp>
      <p:sp>
        <p:nvSpPr>
          <p:cNvPr id="3" name="Text 1"/>
          <p:cNvSpPr/>
          <p:nvPr/>
        </p:nvSpPr>
        <p:spPr>
          <a:xfrm>
            <a:off x="755452" y="1449705"/>
            <a:ext cx="13119497" cy="518160"/>
          </a:xfrm>
          <a:prstGeom prst="rect">
            <a:avLst/>
          </a:prstGeom>
          <a:noFill/>
          <a:ln/>
        </p:spPr>
        <p:txBody>
          <a:bodyPr wrap="square" lIns="0" tIns="0" rIns="0" bIns="0" rtlCol="0" anchor="t"/>
          <a:lstStyle/>
          <a:p>
            <a:pPr algn="l" indent="0" marL="0">
              <a:lnSpc>
                <a:spcPts val="2000"/>
              </a:lnSpc>
              <a:buNone/>
            </a:pPr>
            <a:r>
              <a:rPr lang="en-US" sz="1250" dirty="0">
                <a:solidFill>
                  <a:srgbClr val="FFE5E5"/>
                </a:solidFill>
                <a:latin typeface="DM Sans" pitchFamily="34" charset="0"/>
                <a:ea typeface="DM Sans" pitchFamily="34" charset="-122"/>
                <a:cs typeface="DM Sans" pitchFamily="34" charset="-120"/>
              </a:rPr>
              <a:t>This bar chart showcases the directors with the most titles available on Netflix. Raúl Campos leads with 18 titles, followed by Marcus Raboy and Jay Karas, who each have 15 titles. Cathy Garcia-Molina and Jay Chapman have 13 and 12 titles respectively. These directors have significantly contributed to Netflix's diverse content library.</a:t>
            </a:r>
            <a:endParaRPr lang="en-US" sz="1250" dirty="0"/>
          </a:p>
        </p:txBody>
      </p:sp>
      <p:pic>
        <p:nvPicPr>
          <p:cNvPr id="4" name="Image 0" descr="preencoded.png">    </p:cNvPr>
          <p:cNvPicPr>
            <a:picLocks noChangeAspect="1"/>
          </p:cNvPicPr>
          <p:nvPr/>
        </p:nvPicPr>
        <p:blipFill>
          <a:blip r:embed="rId1"/>
          <a:stretch>
            <a:fillRect/>
          </a:stretch>
        </p:blipFill>
        <p:spPr>
          <a:xfrm>
            <a:off x="755452" y="2149912"/>
            <a:ext cx="9839563" cy="551009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55452" y="593527"/>
            <a:ext cx="8035409" cy="532448"/>
          </a:xfrm>
          <a:prstGeom prst="rect">
            <a:avLst/>
          </a:prstGeom>
          <a:noFill/>
          <a:ln/>
        </p:spPr>
        <p:txBody>
          <a:bodyPr wrap="none" lIns="0" tIns="0" rIns="0" bIns="0" rtlCol="0" anchor="t"/>
          <a:lstStyle/>
          <a:p>
            <a:pPr algn="l" indent="0" marL="0">
              <a:lnSpc>
                <a:spcPts val="4150"/>
              </a:lnSpc>
              <a:buNone/>
            </a:pPr>
            <a:r>
              <a:rPr lang="en-US" sz="3350" dirty="0">
                <a:solidFill>
                  <a:srgbClr val="FAEBEB"/>
                </a:solidFill>
                <a:latin typeface="Dela Gothic One" pitchFamily="34" charset="0"/>
                <a:ea typeface="Dela Gothic One" pitchFamily="34" charset="-122"/>
                <a:cs typeface="Dela Gothic One" pitchFamily="34" charset="-120"/>
              </a:rPr>
              <a:t>Most Common Genres on Netflix</a:t>
            </a:r>
            <a:endParaRPr lang="en-US" sz="3350" dirty="0"/>
          </a:p>
        </p:txBody>
      </p:sp>
      <p:sp>
        <p:nvSpPr>
          <p:cNvPr id="3" name="Text 1"/>
          <p:cNvSpPr/>
          <p:nvPr/>
        </p:nvSpPr>
        <p:spPr>
          <a:xfrm>
            <a:off x="755452" y="1449705"/>
            <a:ext cx="13119497" cy="518160"/>
          </a:xfrm>
          <a:prstGeom prst="rect">
            <a:avLst/>
          </a:prstGeom>
          <a:noFill/>
          <a:ln/>
        </p:spPr>
        <p:txBody>
          <a:bodyPr wrap="square" lIns="0" tIns="0" rIns="0" bIns="0" rtlCol="0" anchor="t"/>
          <a:lstStyle/>
          <a:p>
            <a:pPr algn="l" indent="0" marL="0">
              <a:lnSpc>
                <a:spcPts val="2000"/>
              </a:lnSpc>
              <a:buNone/>
            </a:pPr>
            <a:r>
              <a:rPr lang="en-US" sz="1250" dirty="0">
                <a:solidFill>
                  <a:srgbClr val="FFE5E5"/>
                </a:solidFill>
                <a:latin typeface="DM Sans" pitchFamily="34" charset="0"/>
                <a:ea typeface="DM Sans" pitchFamily="34" charset="-122"/>
                <a:cs typeface="DM Sans" pitchFamily="34" charset="-120"/>
              </a:rPr>
              <a:t>This bar chart displays the prevalence of different genres on Netflix. Dramas and Comedies are the most abundant, with 1,342 and 1,029 titles respectively. Action &amp; Adventure also holds a significant presence with 696 titles, followed by Children &amp; Family Movies and Documentaries.</a:t>
            </a:r>
            <a:endParaRPr lang="en-US" sz="1250" dirty="0"/>
          </a:p>
        </p:txBody>
      </p:sp>
      <p:pic>
        <p:nvPicPr>
          <p:cNvPr id="4" name="Image 0" descr="preencoded.png">    </p:cNvPr>
          <p:cNvPicPr>
            <a:picLocks noChangeAspect="1"/>
          </p:cNvPicPr>
          <p:nvPr/>
        </p:nvPicPr>
        <p:blipFill>
          <a:blip r:embed="rId1"/>
          <a:stretch>
            <a:fillRect/>
          </a:stretch>
        </p:blipFill>
        <p:spPr>
          <a:xfrm>
            <a:off x="755452" y="2149912"/>
            <a:ext cx="9839563" cy="551009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56166" y="595193"/>
            <a:ext cx="6630353" cy="533043"/>
          </a:xfrm>
          <a:prstGeom prst="rect">
            <a:avLst/>
          </a:prstGeom>
          <a:noFill/>
          <a:ln/>
        </p:spPr>
        <p:txBody>
          <a:bodyPr wrap="none" lIns="0" tIns="0" rIns="0" bIns="0" rtlCol="0" anchor="t"/>
          <a:lstStyle/>
          <a:p>
            <a:pPr algn="l" indent="0" marL="0">
              <a:lnSpc>
                <a:spcPts val="4150"/>
              </a:lnSpc>
              <a:buNone/>
            </a:pPr>
            <a:r>
              <a:rPr lang="en-US" sz="3350" dirty="0">
                <a:solidFill>
                  <a:srgbClr val="FAEBEB"/>
                </a:solidFill>
                <a:latin typeface="Dela Gothic One" pitchFamily="34" charset="0"/>
                <a:ea typeface="Dela Gothic One" pitchFamily="34" charset="-122"/>
                <a:cs typeface="Dela Gothic One" pitchFamily="34" charset="-120"/>
              </a:rPr>
              <a:t>Netflix Content by Country</a:t>
            </a:r>
            <a:endParaRPr lang="en-US" sz="3350" dirty="0"/>
          </a:p>
        </p:txBody>
      </p:sp>
      <p:pic>
        <p:nvPicPr>
          <p:cNvPr id="3" name="Image 0" descr="preencoded.png">    </p:cNvPr>
          <p:cNvPicPr>
            <a:picLocks noChangeAspect="1"/>
          </p:cNvPicPr>
          <p:nvPr/>
        </p:nvPicPr>
        <p:blipFill>
          <a:blip r:embed="rId1"/>
          <a:stretch>
            <a:fillRect/>
          </a:stretch>
        </p:blipFill>
        <p:spPr>
          <a:xfrm>
            <a:off x="756166" y="1452324"/>
            <a:ext cx="12263557" cy="5481399"/>
          </a:xfrm>
          <a:prstGeom prst="rect">
            <a:avLst/>
          </a:prstGeom>
        </p:spPr>
      </p:pic>
      <p:sp>
        <p:nvSpPr>
          <p:cNvPr id="4" name="Text 1"/>
          <p:cNvSpPr/>
          <p:nvPr/>
        </p:nvSpPr>
        <p:spPr>
          <a:xfrm>
            <a:off x="756166" y="7116008"/>
            <a:ext cx="13118068" cy="518398"/>
          </a:xfrm>
          <a:prstGeom prst="rect">
            <a:avLst/>
          </a:prstGeom>
          <a:noFill/>
          <a:ln/>
        </p:spPr>
        <p:txBody>
          <a:bodyPr wrap="square" lIns="0" tIns="0" rIns="0" bIns="0" rtlCol="0" anchor="t"/>
          <a:lstStyle/>
          <a:p>
            <a:pPr algn="l" indent="0" marL="0">
              <a:lnSpc>
                <a:spcPts val="2000"/>
              </a:lnSpc>
              <a:buNone/>
            </a:pPr>
            <a:r>
              <a:rPr lang="en-US" sz="1250" dirty="0">
                <a:solidFill>
                  <a:srgbClr val="FFE5E5"/>
                </a:solidFill>
                <a:latin typeface="DM Sans" pitchFamily="34" charset="0"/>
                <a:ea typeface="DM Sans" pitchFamily="34" charset="-122"/>
                <a:cs typeface="DM Sans" pitchFamily="34" charset="-120"/>
              </a:rPr>
              <a:t>This horizontal bar chart illustrates the number of titles available on Netflix across different countries. The United States leads with 1,653 titles, followed by India with 832. The United Kingdom, Canada, Egypt and Spain have significantly fewer titles.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44709" y="1558052"/>
            <a:ext cx="6726912" cy="463272"/>
          </a:xfrm>
          <a:prstGeom prst="rect">
            <a:avLst/>
          </a:prstGeom>
          <a:noFill/>
          <a:ln/>
        </p:spPr>
        <p:txBody>
          <a:bodyPr wrap="none" lIns="0" tIns="0" rIns="0" bIns="0" rtlCol="0" anchor="t"/>
          <a:lstStyle/>
          <a:p>
            <a:pPr algn="l" indent="0" marL="0">
              <a:lnSpc>
                <a:spcPts val="3600"/>
              </a:lnSpc>
              <a:buNone/>
            </a:pPr>
            <a:r>
              <a:rPr lang="en-US" sz="2900" dirty="0">
                <a:solidFill>
                  <a:srgbClr val="FAEBEB"/>
                </a:solidFill>
                <a:latin typeface="Dela Gothic One" pitchFamily="34" charset="0"/>
                <a:ea typeface="Dela Gothic One" pitchFamily="34" charset="-122"/>
                <a:cs typeface="Dela Gothic One" pitchFamily="34" charset="-120"/>
              </a:rPr>
              <a:t>Applications and Future Scope</a:t>
            </a:r>
            <a:endParaRPr lang="en-US" sz="2900" dirty="0"/>
          </a:p>
        </p:txBody>
      </p:sp>
      <p:pic>
        <p:nvPicPr>
          <p:cNvPr id="4" name="Image 1" descr="preencoded.png">    </p:cNvPr>
          <p:cNvPicPr>
            <a:picLocks noChangeAspect="1"/>
          </p:cNvPicPr>
          <p:nvPr/>
        </p:nvPicPr>
        <p:blipFill>
          <a:blip r:embed="rId2"/>
          <a:stretch>
            <a:fillRect/>
          </a:stretch>
        </p:blipFill>
        <p:spPr>
          <a:xfrm>
            <a:off x="6244709" y="2232541"/>
            <a:ext cx="704136" cy="844868"/>
          </a:xfrm>
          <a:prstGeom prst="rect">
            <a:avLst/>
          </a:prstGeom>
        </p:spPr>
      </p:pic>
      <p:sp>
        <p:nvSpPr>
          <p:cNvPr id="5" name="Text 1"/>
          <p:cNvSpPr/>
          <p:nvPr/>
        </p:nvSpPr>
        <p:spPr>
          <a:xfrm>
            <a:off x="7160062" y="2373273"/>
            <a:ext cx="1852970" cy="231577"/>
          </a:xfrm>
          <a:prstGeom prst="rect">
            <a:avLst/>
          </a:prstGeom>
          <a:noFill/>
          <a:ln/>
        </p:spPr>
        <p:txBody>
          <a:bodyPr wrap="none" lIns="0" tIns="0" rIns="0" bIns="0" rtlCol="0" anchor="t"/>
          <a:lstStyle/>
          <a:p>
            <a:pPr algn="l" indent="0" marL="0">
              <a:lnSpc>
                <a:spcPts val="1800"/>
              </a:lnSpc>
              <a:buNone/>
            </a:pPr>
            <a:r>
              <a:rPr lang="en-US" sz="1450" dirty="0">
                <a:solidFill>
                  <a:srgbClr val="FFE5E5"/>
                </a:solidFill>
                <a:latin typeface="Dela Gothic One" pitchFamily="34" charset="0"/>
                <a:ea typeface="Dela Gothic One" pitchFamily="34" charset="-122"/>
                <a:cs typeface="Dela Gothic One" pitchFamily="34" charset="-120"/>
              </a:rPr>
              <a:t>Media Insights</a:t>
            </a:r>
            <a:endParaRPr lang="en-US" sz="1450" dirty="0"/>
          </a:p>
        </p:txBody>
      </p:sp>
      <p:sp>
        <p:nvSpPr>
          <p:cNvPr id="6" name="Text 2"/>
          <p:cNvSpPr/>
          <p:nvPr/>
        </p:nvSpPr>
        <p:spPr>
          <a:xfrm>
            <a:off x="7160062" y="2689265"/>
            <a:ext cx="6712029" cy="225266"/>
          </a:xfrm>
          <a:prstGeom prst="rect">
            <a:avLst/>
          </a:prstGeom>
          <a:noFill/>
          <a:ln/>
        </p:spPr>
        <p:txBody>
          <a:bodyPr wrap="none" lIns="0" tIns="0" rIns="0" bIns="0" rtlCol="0" anchor="t"/>
          <a:lstStyle/>
          <a:p>
            <a:pPr algn="l" indent="0" marL="0">
              <a:lnSpc>
                <a:spcPts val="1750"/>
              </a:lnSpc>
              <a:buNone/>
            </a:pPr>
            <a:r>
              <a:rPr lang="en-US" sz="1100" dirty="0">
                <a:solidFill>
                  <a:srgbClr val="FFE5E5"/>
                </a:solidFill>
                <a:latin typeface="DM Sans" pitchFamily="34" charset="0"/>
                <a:ea typeface="DM Sans" pitchFamily="34" charset="-122"/>
                <a:cs typeface="DM Sans" pitchFamily="34" charset="-120"/>
              </a:rPr>
              <a:t>Understand audience preferences.</a:t>
            </a:r>
            <a:endParaRPr lang="en-US" sz="1100" dirty="0"/>
          </a:p>
        </p:txBody>
      </p:sp>
      <p:pic>
        <p:nvPicPr>
          <p:cNvPr id="7" name="Image 2" descr="preencoded.png">    </p:cNvPr>
          <p:cNvPicPr>
            <a:picLocks noChangeAspect="1"/>
          </p:cNvPicPr>
          <p:nvPr/>
        </p:nvPicPr>
        <p:blipFill>
          <a:blip r:embed="rId3"/>
          <a:stretch>
            <a:fillRect/>
          </a:stretch>
        </p:blipFill>
        <p:spPr>
          <a:xfrm>
            <a:off x="6244709" y="3077408"/>
            <a:ext cx="704136" cy="844868"/>
          </a:xfrm>
          <a:prstGeom prst="rect">
            <a:avLst/>
          </a:prstGeom>
        </p:spPr>
      </p:pic>
      <p:sp>
        <p:nvSpPr>
          <p:cNvPr id="8" name="Text 3"/>
          <p:cNvSpPr/>
          <p:nvPr/>
        </p:nvSpPr>
        <p:spPr>
          <a:xfrm>
            <a:off x="7160062" y="3218140"/>
            <a:ext cx="2529126" cy="231577"/>
          </a:xfrm>
          <a:prstGeom prst="rect">
            <a:avLst/>
          </a:prstGeom>
          <a:noFill/>
          <a:ln/>
        </p:spPr>
        <p:txBody>
          <a:bodyPr wrap="none" lIns="0" tIns="0" rIns="0" bIns="0" rtlCol="0" anchor="t"/>
          <a:lstStyle/>
          <a:p>
            <a:pPr algn="l" indent="0" marL="0">
              <a:lnSpc>
                <a:spcPts val="1800"/>
              </a:lnSpc>
              <a:buNone/>
            </a:pPr>
            <a:r>
              <a:rPr lang="en-US" sz="1450" dirty="0">
                <a:solidFill>
                  <a:srgbClr val="FFE5E5"/>
                </a:solidFill>
                <a:latin typeface="Dela Gothic One" pitchFamily="34" charset="0"/>
                <a:ea typeface="Dela Gothic One" pitchFamily="34" charset="-122"/>
                <a:cs typeface="Dela Gothic One" pitchFamily="34" charset="-120"/>
              </a:rPr>
              <a:t>Platform Improvement</a:t>
            </a:r>
            <a:endParaRPr lang="en-US" sz="1450" dirty="0"/>
          </a:p>
        </p:txBody>
      </p:sp>
      <p:sp>
        <p:nvSpPr>
          <p:cNvPr id="9" name="Text 4"/>
          <p:cNvSpPr/>
          <p:nvPr/>
        </p:nvSpPr>
        <p:spPr>
          <a:xfrm>
            <a:off x="7160062" y="3534132"/>
            <a:ext cx="6712029" cy="225266"/>
          </a:xfrm>
          <a:prstGeom prst="rect">
            <a:avLst/>
          </a:prstGeom>
          <a:noFill/>
          <a:ln/>
        </p:spPr>
        <p:txBody>
          <a:bodyPr wrap="none" lIns="0" tIns="0" rIns="0" bIns="0" rtlCol="0" anchor="t"/>
          <a:lstStyle/>
          <a:p>
            <a:pPr algn="l" indent="0" marL="0">
              <a:lnSpc>
                <a:spcPts val="1750"/>
              </a:lnSpc>
              <a:buNone/>
            </a:pPr>
            <a:r>
              <a:rPr lang="en-US" sz="1100" dirty="0">
                <a:solidFill>
                  <a:srgbClr val="FFE5E5"/>
                </a:solidFill>
                <a:latin typeface="DM Sans" pitchFamily="34" charset="0"/>
                <a:ea typeface="DM Sans" pitchFamily="34" charset="-122"/>
                <a:cs typeface="DM Sans" pitchFamily="34" charset="-120"/>
              </a:rPr>
              <a:t>Enhance content library.</a:t>
            </a:r>
            <a:endParaRPr lang="en-US" sz="1100" dirty="0"/>
          </a:p>
        </p:txBody>
      </p:sp>
      <p:pic>
        <p:nvPicPr>
          <p:cNvPr id="10" name="Image 3" descr="preencoded.png">    </p:cNvPr>
          <p:cNvPicPr>
            <a:picLocks noChangeAspect="1"/>
          </p:cNvPicPr>
          <p:nvPr/>
        </p:nvPicPr>
        <p:blipFill>
          <a:blip r:embed="rId4"/>
          <a:stretch>
            <a:fillRect/>
          </a:stretch>
        </p:blipFill>
        <p:spPr>
          <a:xfrm>
            <a:off x="6244709" y="3922276"/>
            <a:ext cx="704136" cy="844868"/>
          </a:xfrm>
          <a:prstGeom prst="rect">
            <a:avLst/>
          </a:prstGeom>
        </p:spPr>
      </p:pic>
      <p:sp>
        <p:nvSpPr>
          <p:cNvPr id="11" name="Text 5"/>
          <p:cNvSpPr/>
          <p:nvPr/>
        </p:nvSpPr>
        <p:spPr>
          <a:xfrm>
            <a:off x="7160062" y="4063008"/>
            <a:ext cx="1852970" cy="231577"/>
          </a:xfrm>
          <a:prstGeom prst="rect">
            <a:avLst/>
          </a:prstGeom>
          <a:noFill/>
          <a:ln/>
        </p:spPr>
        <p:txBody>
          <a:bodyPr wrap="none" lIns="0" tIns="0" rIns="0" bIns="0" rtlCol="0" anchor="t"/>
          <a:lstStyle/>
          <a:p>
            <a:pPr algn="l" indent="0" marL="0">
              <a:lnSpc>
                <a:spcPts val="1800"/>
              </a:lnSpc>
              <a:buNone/>
            </a:pPr>
            <a:r>
              <a:rPr lang="en-US" sz="1450" dirty="0">
                <a:solidFill>
                  <a:srgbClr val="FFE5E5"/>
                </a:solidFill>
                <a:latin typeface="Dela Gothic One" pitchFamily="34" charset="0"/>
                <a:ea typeface="Dela Gothic One" pitchFamily="34" charset="-122"/>
                <a:cs typeface="Dela Gothic One" pitchFamily="34" charset="-120"/>
              </a:rPr>
              <a:t>Data Analysis</a:t>
            </a:r>
            <a:endParaRPr lang="en-US" sz="1450" dirty="0"/>
          </a:p>
        </p:txBody>
      </p:sp>
      <p:sp>
        <p:nvSpPr>
          <p:cNvPr id="12" name="Text 6"/>
          <p:cNvSpPr/>
          <p:nvPr/>
        </p:nvSpPr>
        <p:spPr>
          <a:xfrm>
            <a:off x="7160062" y="4379000"/>
            <a:ext cx="6712029" cy="225266"/>
          </a:xfrm>
          <a:prstGeom prst="rect">
            <a:avLst/>
          </a:prstGeom>
          <a:noFill/>
          <a:ln/>
        </p:spPr>
        <p:txBody>
          <a:bodyPr wrap="none" lIns="0" tIns="0" rIns="0" bIns="0" rtlCol="0" anchor="t"/>
          <a:lstStyle/>
          <a:p>
            <a:pPr algn="l" indent="0" marL="0">
              <a:lnSpc>
                <a:spcPts val="1750"/>
              </a:lnSpc>
              <a:buNone/>
            </a:pPr>
            <a:r>
              <a:rPr lang="en-US" sz="1100" dirty="0">
                <a:solidFill>
                  <a:srgbClr val="FFE5E5"/>
                </a:solidFill>
                <a:latin typeface="DM Sans" pitchFamily="34" charset="0"/>
                <a:ea typeface="DM Sans" pitchFamily="34" charset="-122"/>
                <a:cs typeface="DM Sans" pitchFamily="34" charset="-120"/>
              </a:rPr>
              <a:t>Study content trends.</a:t>
            </a:r>
            <a:endParaRPr lang="en-US" sz="1100" dirty="0"/>
          </a:p>
        </p:txBody>
      </p:sp>
      <p:pic>
        <p:nvPicPr>
          <p:cNvPr id="13" name="Image 4" descr="preencoded.png">    </p:cNvPr>
          <p:cNvPicPr>
            <a:picLocks noChangeAspect="1"/>
          </p:cNvPicPr>
          <p:nvPr/>
        </p:nvPicPr>
        <p:blipFill>
          <a:blip r:embed="rId5"/>
          <a:stretch>
            <a:fillRect/>
          </a:stretch>
        </p:blipFill>
        <p:spPr>
          <a:xfrm>
            <a:off x="6244709" y="4767143"/>
            <a:ext cx="704136" cy="844868"/>
          </a:xfrm>
          <a:prstGeom prst="rect">
            <a:avLst/>
          </a:prstGeom>
        </p:spPr>
      </p:pic>
      <p:sp>
        <p:nvSpPr>
          <p:cNvPr id="14" name="Text 7"/>
          <p:cNvSpPr/>
          <p:nvPr/>
        </p:nvSpPr>
        <p:spPr>
          <a:xfrm>
            <a:off x="7160062" y="4907875"/>
            <a:ext cx="2071092" cy="231577"/>
          </a:xfrm>
          <a:prstGeom prst="rect">
            <a:avLst/>
          </a:prstGeom>
          <a:noFill/>
          <a:ln/>
        </p:spPr>
        <p:txBody>
          <a:bodyPr wrap="none" lIns="0" tIns="0" rIns="0" bIns="0" rtlCol="0" anchor="t"/>
          <a:lstStyle/>
          <a:p>
            <a:pPr algn="l" indent="0" marL="0">
              <a:lnSpc>
                <a:spcPts val="1800"/>
              </a:lnSpc>
              <a:buNone/>
            </a:pPr>
            <a:r>
              <a:rPr lang="en-US" sz="1450" dirty="0">
                <a:solidFill>
                  <a:srgbClr val="FFE5E5"/>
                </a:solidFill>
                <a:latin typeface="Dela Gothic One" pitchFamily="34" charset="0"/>
                <a:ea typeface="Dela Gothic One" pitchFamily="34" charset="-122"/>
                <a:cs typeface="Dela Gothic One" pitchFamily="34" charset="-120"/>
              </a:rPr>
              <a:t>Learning Resource</a:t>
            </a:r>
            <a:endParaRPr lang="en-US" sz="1450" dirty="0"/>
          </a:p>
        </p:txBody>
      </p:sp>
      <p:sp>
        <p:nvSpPr>
          <p:cNvPr id="15" name="Text 8"/>
          <p:cNvSpPr/>
          <p:nvPr/>
        </p:nvSpPr>
        <p:spPr>
          <a:xfrm>
            <a:off x="7160062" y="5223867"/>
            <a:ext cx="6712029" cy="225266"/>
          </a:xfrm>
          <a:prstGeom prst="rect">
            <a:avLst/>
          </a:prstGeom>
          <a:noFill/>
          <a:ln/>
        </p:spPr>
        <p:txBody>
          <a:bodyPr wrap="none" lIns="0" tIns="0" rIns="0" bIns="0" rtlCol="0" anchor="t"/>
          <a:lstStyle/>
          <a:p>
            <a:pPr algn="l" indent="0" marL="0">
              <a:lnSpc>
                <a:spcPts val="1750"/>
              </a:lnSpc>
              <a:buNone/>
            </a:pPr>
            <a:r>
              <a:rPr lang="en-US" sz="1100" dirty="0">
                <a:solidFill>
                  <a:srgbClr val="FFE5E5"/>
                </a:solidFill>
                <a:latin typeface="DM Sans" pitchFamily="34" charset="0"/>
                <a:ea typeface="DM Sans" pitchFamily="34" charset="-122"/>
                <a:cs typeface="DM Sans" pitchFamily="34" charset="-120"/>
              </a:rPr>
              <a:t>Reference for beginners.</a:t>
            </a:r>
            <a:endParaRPr lang="en-US" sz="1100" dirty="0"/>
          </a:p>
        </p:txBody>
      </p:sp>
      <p:sp>
        <p:nvSpPr>
          <p:cNvPr id="16" name="Text 9"/>
          <p:cNvSpPr/>
          <p:nvPr/>
        </p:nvSpPr>
        <p:spPr>
          <a:xfrm>
            <a:off x="6244709" y="5770364"/>
            <a:ext cx="7627382" cy="901065"/>
          </a:xfrm>
          <a:prstGeom prst="rect">
            <a:avLst/>
          </a:prstGeom>
          <a:noFill/>
          <a:ln/>
        </p:spPr>
        <p:txBody>
          <a:bodyPr wrap="square" lIns="0" tIns="0" rIns="0" bIns="0" rtlCol="0" anchor="t"/>
          <a:lstStyle/>
          <a:p>
            <a:pPr algn="l" indent="0" marL="0">
              <a:lnSpc>
                <a:spcPts val="1750"/>
              </a:lnSpc>
              <a:buNone/>
            </a:pPr>
            <a:r>
              <a:rPr lang="en-US" sz="1100" dirty="0">
                <a:solidFill>
                  <a:srgbClr val="FFE5E5"/>
                </a:solidFill>
                <a:latin typeface="DM Sans" pitchFamily="34" charset="0"/>
                <a:ea typeface="DM Sans" pitchFamily="34" charset="-122"/>
                <a:cs typeface="DM Sans" pitchFamily="34" charset="-120"/>
              </a:rPr>
              <a:t>This project can be used in many real-world situations. Some examples are media companies can understand what type of content people like, streaming platforms can use such analysis to improve their content library, data analysts can study content trends to make business decisions and students and beginners can learn data analysis using this project as a reference.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31029"/>
          </a:xfrm>
          <a:prstGeom prst="rect">
            <a:avLst/>
          </a:prstGeom>
        </p:spPr>
      </p:pic>
      <p:sp>
        <p:nvSpPr>
          <p:cNvPr id="3" name="Text 0"/>
          <p:cNvSpPr/>
          <p:nvPr/>
        </p:nvSpPr>
        <p:spPr>
          <a:xfrm>
            <a:off x="678299" y="532924"/>
            <a:ext cx="4836914" cy="414457"/>
          </a:xfrm>
          <a:prstGeom prst="rect">
            <a:avLst/>
          </a:prstGeom>
          <a:noFill/>
          <a:ln/>
        </p:spPr>
        <p:txBody>
          <a:bodyPr wrap="none" lIns="0" tIns="0" rIns="0" bIns="0" rtlCol="0" anchor="t"/>
          <a:lstStyle/>
          <a:p>
            <a:pPr algn="l" indent="0" marL="0">
              <a:lnSpc>
                <a:spcPts val="3250"/>
              </a:lnSpc>
              <a:buNone/>
            </a:pPr>
            <a:r>
              <a:rPr lang="en-US" sz="2600" dirty="0">
                <a:solidFill>
                  <a:srgbClr val="FAEBEB"/>
                </a:solidFill>
                <a:latin typeface="Dela Gothic One" pitchFamily="34" charset="0"/>
                <a:ea typeface="Dela Gothic One" pitchFamily="34" charset="-122"/>
                <a:cs typeface="Dela Gothic One" pitchFamily="34" charset="-120"/>
              </a:rPr>
              <a:t>Key Findings and Results</a:t>
            </a:r>
            <a:endParaRPr lang="en-US" sz="2600" dirty="0"/>
          </a:p>
        </p:txBody>
      </p:sp>
      <p:sp>
        <p:nvSpPr>
          <p:cNvPr id="4" name="Text 1"/>
          <p:cNvSpPr/>
          <p:nvPr/>
        </p:nvSpPr>
        <p:spPr>
          <a:xfrm>
            <a:off x="678299" y="1199317"/>
            <a:ext cx="7787402" cy="415647"/>
          </a:xfrm>
          <a:prstGeom prst="rect">
            <a:avLst/>
          </a:prstGeom>
          <a:noFill/>
          <a:ln/>
        </p:spPr>
        <p:txBody>
          <a:bodyPr wrap="none" lIns="0" tIns="0" rIns="0" bIns="0" rtlCol="0" anchor="t"/>
          <a:lstStyle/>
          <a:p>
            <a:pPr algn="ctr" indent="0" marL="0">
              <a:lnSpc>
                <a:spcPts val="3250"/>
              </a:lnSpc>
              <a:buNone/>
            </a:pPr>
            <a:r>
              <a:rPr lang="en-US" sz="3250" dirty="0">
                <a:solidFill>
                  <a:srgbClr val="FFE5E5"/>
                </a:solidFill>
                <a:latin typeface="Dela Gothic One" pitchFamily="34" charset="0"/>
                <a:ea typeface="Dela Gothic One" pitchFamily="34" charset="-122"/>
                <a:cs typeface="Dela Gothic One" pitchFamily="34" charset="-120"/>
              </a:rPr>
              <a:t>&gt;</a:t>
            </a:r>
            <a:endParaRPr lang="en-US" sz="3250" dirty="0"/>
          </a:p>
        </p:txBody>
      </p:sp>
      <p:sp>
        <p:nvSpPr>
          <p:cNvPr id="5" name="Text 2"/>
          <p:cNvSpPr/>
          <p:nvPr/>
        </p:nvSpPr>
        <p:spPr>
          <a:xfrm>
            <a:off x="3743206" y="1772364"/>
            <a:ext cx="1657588" cy="207169"/>
          </a:xfrm>
          <a:prstGeom prst="rect">
            <a:avLst/>
          </a:prstGeom>
          <a:noFill/>
          <a:ln/>
        </p:spPr>
        <p:txBody>
          <a:bodyPr wrap="none" lIns="0" tIns="0" rIns="0" bIns="0" rtlCol="0" anchor="t"/>
          <a:lstStyle/>
          <a:p>
            <a:pPr algn="ctr" indent="0" marL="0">
              <a:lnSpc>
                <a:spcPts val="1600"/>
              </a:lnSpc>
              <a:buNone/>
            </a:pPr>
            <a:r>
              <a:rPr lang="en-US" sz="1300" dirty="0">
                <a:solidFill>
                  <a:srgbClr val="FFE5E5"/>
                </a:solidFill>
                <a:latin typeface="Dela Gothic One" pitchFamily="34" charset="0"/>
                <a:ea typeface="Dela Gothic One" pitchFamily="34" charset="-122"/>
                <a:cs typeface="Dela Gothic One" pitchFamily="34" charset="-120"/>
              </a:rPr>
              <a:t>Movies</a:t>
            </a:r>
            <a:endParaRPr lang="en-US" sz="1300" dirty="0"/>
          </a:p>
        </p:txBody>
      </p:sp>
      <p:sp>
        <p:nvSpPr>
          <p:cNvPr id="6" name="Text 3"/>
          <p:cNvSpPr/>
          <p:nvPr/>
        </p:nvSpPr>
        <p:spPr>
          <a:xfrm>
            <a:off x="678299" y="2055019"/>
            <a:ext cx="7787402" cy="201454"/>
          </a:xfrm>
          <a:prstGeom prst="rect">
            <a:avLst/>
          </a:prstGeom>
          <a:noFill/>
          <a:ln/>
        </p:spPr>
        <p:txBody>
          <a:bodyPr wrap="none" lIns="0" tIns="0" rIns="0" bIns="0" rtlCol="0" anchor="t"/>
          <a:lstStyle/>
          <a:p>
            <a:pPr algn="ctr" indent="0" marL="0">
              <a:lnSpc>
                <a:spcPts val="1550"/>
              </a:lnSpc>
              <a:buNone/>
            </a:pPr>
            <a:r>
              <a:rPr lang="en-US" sz="950" dirty="0">
                <a:solidFill>
                  <a:srgbClr val="FFE5E5"/>
                </a:solidFill>
                <a:latin typeface="DM Sans" pitchFamily="34" charset="0"/>
                <a:ea typeface="DM Sans" pitchFamily="34" charset="-122"/>
                <a:cs typeface="DM Sans" pitchFamily="34" charset="-120"/>
              </a:rPr>
              <a:t>Netflix has more movies than TV shows.</a:t>
            </a:r>
            <a:endParaRPr lang="en-US" sz="950" dirty="0"/>
          </a:p>
        </p:txBody>
      </p:sp>
      <p:sp>
        <p:nvSpPr>
          <p:cNvPr id="7" name="Text 4"/>
          <p:cNvSpPr/>
          <p:nvPr/>
        </p:nvSpPr>
        <p:spPr>
          <a:xfrm>
            <a:off x="678299" y="2697361"/>
            <a:ext cx="7787402" cy="415647"/>
          </a:xfrm>
          <a:prstGeom prst="rect">
            <a:avLst/>
          </a:prstGeom>
          <a:noFill/>
          <a:ln/>
        </p:spPr>
        <p:txBody>
          <a:bodyPr wrap="none" lIns="0" tIns="0" rIns="0" bIns="0" rtlCol="0" anchor="t"/>
          <a:lstStyle/>
          <a:p>
            <a:pPr algn="ctr" indent="0" marL="0">
              <a:lnSpc>
                <a:spcPts val="3250"/>
              </a:lnSpc>
              <a:buNone/>
            </a:pPr>
            <a:r>
              <a:rPr lang="en-US" sz="3250" dirty="0">
                <a:solidFill>
                  <a:srgbClr val="FFE5E5"/>
                </a:solidFill>
                <a:latin typeface="Dela Gothic One" pitchFamily="34" charset="0"/>
                <a:ea typeface="Dela Gothic One" pitchFamily="34" charset="-122"/>
                <a:cs typeface="Dela Gothic One" pitchFamily="34" charset="-120"/>
              </a:rPr>
              <a:t>Drama</a:t>
            </a:r>
            <a:endParaRPr lang="en-US" sz="3250" dirty="0"/>
          </a:p>
        </p:txBody>
      </p:sp>
      <p:sp>
        <p:nvSpPr>
          <p:cNvPr id="8" name="Text 5"/>
          <p:cNvSpPr/>
          <p:nvPr/>
        </p:nvSpPr>
        <p:spPr>
          <a:xfrm>
            <a:off x="3743206" y="3270409"/>
            <a:ext cx="1657588" cy="207169"/>
          </a:xfrm>
          <a:prstGeom prst="rect">
            <a:avLst/>
          </a:prstGeom>
          <a:noFill/>
          <a:ln/>
        </p:spPr>
        <p:txBody>
          <a:bodyPr wrap="none" lIns="0" tIns="0" rIns="0" bIns="0" rtlCol="0" anchor="t"/>
          <a:lstStyle/>
          <a:p>
            <a:pPr algn="ctr" indent="0" marL="0">
              <a:lnSpc>
                <a:spcPts val="1600"/>
              </a:lnSpc>
              <a:buNone/>
            </a:pPr>
            <a:r>
              <a:rPr lang="en-US" sz="1300" dirty="0">
                <a:solidFill>
                  <a:srgbClr val="FFE5E5"/>
                </a:solidFill>
                <a:latin typeface="Dela Gothic One" pitchFamily="34" charset="0"/>
                <a:ea typeface="Dela Gothic One" pitchFamily="34" charset="-122"/>
                <a:cs typeface="Dela Gothic One" pitchFamily="34" charset="-120"/>
              </a:rPr>
              <a:t>Genres</a:t>
            </a:r>
            <a:endParaRPr lang="en-US" sz="1300" dirty="0"/>
          </a:p>
        </p:txBody>
      </p:sp>
      <p:sp>
        <p:nvSpPr>
          <p:cNvPr id="9" name="Text 6"/>
          <p:cNvSpPr/>
          <p:nvPr/>
        </p:nvSpPr>
        <p:spPr>
          <a:xfrm>
            <a:off x="678299" y="3553063"/>
            <a:ext cx="7787402" cy="201454"/>
          </a:xfrm>
          <a:prstGeom prst="rect">
            <a:avLst/>
          </a:prstGeom>
          <a:noFill/>
          <a:ln/>
        </p:spPr>
        <p:txBody>
          <a:bodyPr wrap="none" lIns="0" tIns="0" rIns="0" bIns="0" rtlCol="0" anchor="t"/>
          <a:lstStyle/>
          <a:p>
            <a:pPr algn="ctr" indent="0" marL="0">
              <a:lnSpc>
                <a:spcPts val="1550"/>
              </a:lnSpc>
              <a:buNone/>
            </a:pPr>
            <a:r>
              <a:rPr lang="en-US" sz="950" dirty="0">
                <a:solidFill>
                  <a:srgbClr val="FFE5E5"/>
                </a:solidFill>
                <a:latin typeface="DM Sans" pitchFamily="34" charset="0"/>
                <a:ea typeface="DM Sans" pitchFamily="34" charset="-122"/>
                <a:cs typeface="DM Sans" pitchFamily="34" charset="-120"/>
              </a:rPr>
              <a:t>Most common genres are Drama and Comedy.</a:t>
            </a:r>
            <a:endParaRPr lang="en-US" sz="950" dirty="0"/>
          </a:p>
        </p:txBody>
      </p:sp>
      <p:sp>
        <p:nvSpPr>
          <p:cNvPr id="10" name="Text 7"/>
          <p:cNvSpPr/>
          <p:nvPr/>
        </p:nvSpPr>
        <p:spPr>
          <a:xfrm>
            <a:off x="678299" y="4195405"/>
            <a:ext cx="7787402" cy="415647"/>
          </a:xfrm>
          <a:prstGeom prst="rect">
            <a:avLst/>
          </a:prstGeom>
          <a:noFill/>
          <a:ln/>
        </p:spPr>
        <p:txBody>
          <a:bodyPr wrap="none" lIns="0" tIns="0" rIns="0" bIns="0" rtlCol="0" anchor="t"/>
          <a:lstStyle/>
          <a:p>
            <a:pPr algn="ctr" indent="0" marL="0">
              <a:lnSpc>
                <a:spcPts val="3250"/>
              </a:lnSpc>
              <a:buNone/>
            </a:pPr>
            <a:r>
              <a:rPr lang="en-US" sz="3250" dirty="0">
                <a:solidFill>
                  <a:srgbClr val="FFE5E5"/>
                </a:solidFill>
                <a:latin typeface="Dela Gothic One" pitchFamily="34" charset="0"/>
                <a:ea typeface="Dela Gothic One" pitchFamily="34" charset="-122"/>
                <a:cs typeface="Dela Gothic One" pitchFamily="34" charset="-120"/>
              </a:rPr>
              <a:t>USA</a:t>
            </a:r>
            <a:endParaRPr lang="en-US" sz="3250" dirty="0"/>
          </a:p>
        </p:txBody>
      </p:sp>
      <p:sp>
        <p:nvSpPr>
          <p:cNvPr id="11" name="Text 8"/>
          <p:cNvSpPr/>
          <p:nvPr/>
        </p:nvSpPr>
        <p:spPr>
          <a:xfrm>
            <a:off x="3743206" y="4768453"/>
            <a:ext cx="1657588" cy="207169"/>
          </a:xfrm>
          <a:prstGeom prst="rect">
            <a:avLst/>
          </a:prstGeom>
          <a:noFill/>
          <a:ln/>
        </p:spPr>
        <p:txBody>
          <a:bodyPr wrap="none" lIns="0" tIns="0" rIns="0" bIns="0" rtlCol="0" anchor="t"/>
          <a:lstStyle/>
          <a:p>
            <a:pPr algn="ctr" indent="0" marL="0">
              <a:lnSpc>
                <a:spcPts val="1600"/>
              </a:lnSpc>
              <a:buNone/>
            </a:pPr>
            <a:r>
              <a:rPr lang="en-US" sz="1300" dirty="0">
                <a:solidFill>
                  <a:srgbClr val="FFE5E5"/>
                </a:solidFill>
                <a:latin typeface="Dela Gothic One" pitchFamily="34" charset="0"/>
                <a:ea typeface="Dela Gothic One" pitchFamily="34" charset="-122"/>
                <a:cs typeface="Dela Gothic One" pitchFamily="34" charset="-120"/>
              </a:rPr>
              <a:t>Content</a:t>
            </a:r>
            <a:endParaRPr lang="en-US" sz="1300" dirty="0"/>
          </a:p>
        </p:txBody>
      </p:sp>
      <p:sp>
        <p:nvSpPr>
          <p:cNvPr id="12" name="Text 9"/>
          <p:cNvSpPr/>
          <p:nvPr/>
        </p:nvSpPr>
        <p:spPr>
          <a:xfrm>
            <a:off x="678299" y="5051108"/>
            <a:ext cx="7787402" cy="201454"/>
          </a:xfrm>
          <a:prstGeom prst="rect">
            <a:avLst/>
          </a:prstGeom>
          <a:noFill/>
          <a:ln/>
        </p:spPr>
        <p:txBody>
          <a:bodyPr wrap="none" lIns="0" tIns="0" rIns="0" bIns="0" rtlCol="0" anchor="t"/>
          <a:lstStyle/>
          <a:p>
            <a:pPr algn="ctr" indent="0" marL="0">
              <a:lnSpc>
                <a:spcPts val="1550"/>
              </a:lnSpc>
              <a:buNone/>
            </a:pPr>
            <a:r>
              <a:rPr lang="en-US" sz="950" dirty="0">
                <a:solidFill>
                  <a:srgbClr val="FFE5E5"/>
                </a:solidFill>
                <a:latin typeface="DM Sans" pitchFamily="34" charset="0"/>
                <a:ea typeface="DM Sans" pitchFamily="34" charset="-122"/>
                <a:cs typeface="DM Sans" pitchFamily="34" charset="-120"/>
              </a:rPr>
              <a:t>Most content is from the United States and India.</a:t>
            </a:r>
            <a:endParaRPr lang="en-US" sz="950" dirty="0"/>
          </a:p>
        </p:txBody>
      </p:sp>
      <p:sp>
        <p:nvSpPr>
          <p:cNvPr id="13" name="Text 10"/>
          <p:cNvSpPr/>
          <p:nvPr/>
        </p:nvSpPr>
        <p:spPr>
          <a:xfrm>
            <a:off x="678299" y="5693450"/>
            <a:ext cx="7787402" cy="415647"/>
          </a:xfrm>
          <a:prstGeom prst="rect">
            <a:avLst/>
          </a:prstGeom>
          <a:noFill/>
          <a:ln/>
        </p:spPr>
        <p:txBody>
          <a:bodyPr wrap="none" lIns="0" tIns="0" rIns="0" bIns="0" rtlCol="0" anchor="t"/>
          <a:lstStyle/>
          <a:p>
            <a:pPr algn="ctr" indent="0" marL="0">
              <a:lnSpc>
                <a:spcPts val="3250"/>
              </a:lnSpc>
              <a:buNone/>
            </a:pPr>
            <a:r>
              <a:rPr lang="en-US" sz="3250" dirty="0">
                <a:solidFill>
                  <a:srgbClr val="FFE5E5"/>
                </a:solidFill>
                <a:latin typeface="Dela Gothic One" pitchFamily="34" charset="0"/>
                <a:ea typeface="Dela Gothic One" pitchFamily="34" charset="-122"/>
                <a:cs typeface="Dela Gothic One" pitchFamily="34" charset="-120"/>
              </a:rPr>
              <a:t>2015</a:t>
            </a:r>
            <a:endParaRPr lang="en-US" sz="3250" dirty="0"/>
          </a:p>
        </p:txBody>
      </p:sp>
      <p:sp>
        <p:nvSpPr>
          <p:cNvPr id="14" name="Text 11"/>
          <p:cNvSpPr/>
          <p:nvPr/>
        </p:nvSpPr>
        <p:spPr>
          <a:xfrm>
            <a:off x="3743206" y="6266497"/>
            <a:ext cx="1657588" cy="207169"/>
          </a:xfrm>
          <a:prstGeom prst="rect">
            <a:avLst/>
          </a:prstGeom>
          <a:noFill/>
          <a:ln/>
        </p:spPr>
        <p:txBody>
          <a:bodyPr wrap="none" lIns="0" tIns="0" rIns="0" bIns="0" rtlCol="0" anchor="t"/>
          <a:lstStyle/>
          <a:p>
            <a:pPr algn="ctr" indent="0" marL="0">
              <a:lnSpc>
                <a:spcPts val="1600"/>
              </a:lnSpc>
              <a:buNone/>
            </a:pPr>
            <a:r>
              <a:rPr lang="en-US" sz="1300" dirty="0">
                <a:solidFill>
                  <a:srgbClr val="FFE5E5"/>
                </a:solidFill>
                <a:latin typeface="Dela Gothic One" pitchFamily="34" charset="0"/>
                <a:ea typeface="Dela Gothic One" pitchFamily="34" charset="-122"/>
                <a:cs typeface="Dela Gothic One" pitchFamily="34" charset="-120"/>
              </a:rPr>
              <a:t>Titles</a:t>
            </a:r>
            <a:endParaRPr lang="en-US" sz="1300" dirty="0"/>
          </a:p>
        </p:txBody>
      </p:sp>
      <p:sp>
        <p:nvSpPr>
          <p:cNvPr id="15" name="Text 12"/>
          <p:cNvSpPr/>
          <p:nvPr/>
        </p:nvSpPr>
        <p:spPr>
          <a:xfrm>
            <a:off x="678299" y="6549152"/>
            <a:ext cx="7787402" cy="201454"/>
          </a:xfrm>
          <a:prstGeom prst="rect">
            <a:avLst/>
          </a:prstGeom>
          <a:noFill/>
          <a:ln/>
        </p:spPr>
        <p:txBody>
          <a:bodyPr wrap="none" lIns="0" tIns="0" rIns="0" bIns="0" rtlCol="0" anchor="t"/>
          <a:lstStyle/>
          <a:p>
            <a:pPr algn="ctr" indent="0" marL="0">
              <a:lnSpc>
                <a:spcPts val="1550"/>
              </a:lnSpc>
              <a:buNone/>
            </a:pPr>
            <a:r>
              <a:rPr lang="en-US" sz="950" dirty="0">
                <a:solidFill>
                  <a:srgbClr val="FFE5E5"/>
                </a:solidFill>
                <a:latin typeface="DM Sans" pitchFamily="34" charset="0"/>
                <a:ea typeface="DM Sans" pitchFamily="34" charset="-122"/>
                <a:cs typeface="DM Sans" pitchFamily="34" charset="-120"/>
              </a:rPr>
              <a:t>Titles added increased after 2015.</a:t>
            </a:r>
            <a:endParaRPr lang="en-US" sz="950" dirty="0"/>
          </a:p>
        </p:txBody>
      </p:sp>
      <p:sp>
        <p:nvSpPr>
          <p:cNvPr id="16" name="Text 13"/>
          <p:cNvSpPr/>
          <p:nvPr/>
        </p:nvSpPr>
        <p:spPr>
          <a:xfrm>
            <a:off x="678299" y="6892290"/>
            <a:ext cx="7787402" cy="805815"/>
          </a:xfrm>
          <a:prstGeom prst="rect">
            <a:avLst/>
          </a:prstGeom>
          <a:noFill/>
          <a:ln/>
        </p:spPr>
        <p:txBody>
          <a:bodyPr wrap="square" lIns="0" tIns="0" rIns="0" bIns="0" rtlCol="0" anchor="t"/>
          <a:lstStyle/>
          <a:p>
            <a:pPr algn="l" indent="0" marL="0">
              <a:lnSpc>
                <a:spcPts val="1550"/>
              </a:lnSpc>
              <a:buNone/>
            </a:pPr>
            <a:r>
              <a:rPr lang="en-US" sz="950" dirty="0">
                <a:solidFill>
                  <a:srgbClr val="FFE5E5"/>
                </a:solidFill>
                <a:latin typeface="DM Sans" pitchFamily="34" charset="0"/>
                <a:ea typeface="DM Sans" pitchFamily="34" charset="-122"/>
                <a:cs typeface="DM Sans" pitchFamily="34" charset="-120"/>
              </a:rPr>
              <a:t>After analyzing the Netflix dataset, we found many interesting results: Netflix has more movies than TV shows, the most common genres are Drama and Comedy, most content on Netflix is from the United States and India, the most common content ratings are TV-MA, TV-14, and PG-13, movie durations vary by genre, the number of titles added increased a lot after 2015 and the most active release years were 2016 to 2020.</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58309" y="892612"/>
            <a:ext cx="12684085" cy="712708"/>
          </a:xfrm>
          <a:prstGeom prst="rect">
            <a:avLst/>
          </a:prstGeom>
          <a:noFill/>
          <a:ln/>
        </p:spPr>
        <p:txBody>
          <a:bodyPr wrap="none" lIns="0" tIns="0" rIns="0" bIns="0" rtlCol="0" anchor="t"/>
          <a:lstStyle/>
          <a:p>
            <a:pPr algn="l" indent="0" marL="0">
              <a:lnSpc>
                <a:spcPts val="5600"/>
              </a:lnSpc>
              <a:buNone/>
            </a:pPr>
            <a:r>
              <a:rPr lang="en-US" sz="4450" dirty="0">
                <a:solidFill>
                  <a:srgbClr val="FAEBEB"/>
                </a:solidFill>
                <a:latin typeface="Dela Gothic One" pitchFamily="34" charset="0"/>
                <a:ea typeface="Dela Gothic One" pitchFamily="34" charset="-122"/>
                <a:cs typeface="Dela Gothic One" pitchFamily="34" charset="-120"/>
              </a:rPr>
              <a:t>Conclusion and Future Enhancements</a:t>
            </a:r>
            <a:endParaRPr lang="en-US" sz="4450" dirty="0"/>
          </a:p>
        </p:txBody>
      </p:sp>
      <p:sp>
        <p:nvSpPr>
          <p:cNvPr id="3" name="Shape 1"/>
          <p:cNvSpPr/>
          <p:nvPr/>
        </p:nvSpPr>
        <p:spPr>
          <a:xfrm>
            <a:off x="758309" y="2038588"/>
            <a:ext cx="2185511" cy="1265992"/>
          </a:xfrm>
          <a:prstGeom prst="roundRect">
            <a:avLst>
              <a:gd name="adj" fmla="val 7188"/>
            </a:avLst>
          </a:prstGeom>
          <a:solidFill>
            <a:srgbClr val="740B0B"/>
          </a:solidFill>
          <a:ln w="7620">
            <a:solidFill>
              <a:srgbClr val="8D2424"/>
            </a:solidFill>
            <a:prstDash val="solid"/>
          </a:ln>
        </p:spPr>
      </p:sp>
      <p:sp>
        <p:nvSpPr>
          <p:cNvPr id="4" name="Text 2"/>
          <p:cNvSpPr/>
          <p:nvPr/>
        </p:nvSpPr>
        <p:spPr>
          <a:xfrm>
            <a:off x="1698665" y="2481143"/>
            <a:ext cx="304681" cy="380762"/>
          </a:xfrm>
          <a:prstGeom prst="rect">
            <a:avLst/>
          </a:prstGeom>
          <a:noFill/>
          <a:ln/>
        </p:spPr>
        <p:txBody>
          <a:bodyPr wrap="none" lIns="0" tIns="0" rIns="0" bIns="0" rtlCol="0" anchor="t"/>
          <a:lstStyle/>
          <a:p>
            <a:pPr algn="ctr" indent="0" marL="0">
              <a:lnSpc>
                <a:spcPts val="3800"/>
              </a:lnSpc>
              <a:buNone/>
            </a:pPr>
            <a:r>
              <a:rPr lang="en-US" sz="2350" dirty="0">
                <a:solidFill>
                  <a:srgbClr val="FFE5E5"/>
                </a:solidFill>
                <a:latin typeface="Dela Gothic One" pitchFamily="34" charset="0"/>
                <a:ea typeface="Dela Gothic One" pitchFamily="34" charset="-122"/>
                <a:cs typeface="Dela Gothic One" pitchFamily="34" charset="-120"/>
              </a:rPr>
              <a:t>1</a:t>
            </a:r>
            <a:endParaRPr lang="en-US" sz="2350" dirty="0"/>
          </a:p>
        </p:txBody>
      </p:sp>
      <p:sp>
        <p:nvSpPr>
          <p:cNvPr id="5" name="Text 3"/>
          <p:cNvSpPr/>
          <p:nvPr/>
        </p:nvSpPr>
        <p:spPr>
          <a:xfrm>
            <a:off x="3160395" y="2255163"/>
            <a:ext cx="2850713" cy="356235"/>
          </a:xfrm>
          <a:prstGeom prst="rect">
            <a:avLst/>
          </a:prstGeom>
          <a:noFill/>
          <a:ln/>
        </p:spPr>
        <p:txBody>
          <a:bodyPr wrap="none" lIns="0" tIns="0" rIns="0" bIns="0" rtlCol="0" anchor="t"/>
          <a:lstStyle/>
          <a:p>
            <a:pPr algn="l" indent="0" marL="0">
              <a:lnSpc>
                <a:spcPts val="2800"/>
              </a:lnSpc>
              <a:buNone/>
            </a:pPr>
            <a:r>
              <a:rPr lang="en-US" sz="2200" dirty="0">
                <a:solidFill>
                  <a:srgbClr val="FFE5E5"/>
                </a:solidFill>
                <a:latin typeface="Dela Gothic One" pitchFamily="34" charset="0"/>
                <a:ea typeface="Dela Gothic One" pitchFamily="34" charset="-122"/>
                <a:cs typeface="Dela Gothic One" pitchFamily="34" charset="-120"/>
              </a:rPr>
              <a:t>User Ratings</a:t>
            </a:r>
            <a:endParaRPr lang="en-US" sz="2200" dirty="0"/>
          </a:p>
        </p:txBody>
      </p:sp>
      <p:sp>
        <p:nvSpPr>
          <p:cNvPr id="6" name="Text 4"/>
          <p:cNvSpPr/>
          <p:nvPr/>
        </p:nvSpPr>
        <p:spPr>
          <a:xfrm>
            <a:off x="3160395" y="2741295"/>
            <a:ext cx="3556873" cy="346710"/>
          </a:xfrm>
          <a:prstGeom prst="rect">
            <a:avLst/>
          </a:prstGeom>
          <a:noFill/>
          <a:ln/>
        </p:spPr>
        <p:txBody>
          <a:bodyPr wrap="none" lIns="0" tIns="0" rIns="0" bIns="0" rtlCol="0" anchor="t"/>
          <a:lstStyle/>
          <a:p>
            <a:pPr algn="l" indent="0" marL="0">
              <a:lnSpc>
                <a:spcPts val="2700"/>
              </a:lnSpc>
              <a:buNone/>
            </a:pPr>
            <a:r>
              <a:rPr lang="en-US" sz="1700" dirty="0">
                <a:solidFill>
                  <a:srgbClr val="FFE5E5"/>
                </a:solidFill>
                <a:latin typeface="DM Sans" pitchFamily="34" charset="0"/>
                <a:ea typeface="DM Sans" pitchFamily="34" charset="-122"/>
                <a:cs typeface="DM Sans" pitchFamily="34" charset="-120"/>
              </a:rPr>
              <a:t>Add user ratings for better analysis.</a:t>
            </a:r>
            <a:endParaRPr lang="en-US" sz="1700" dirty="0"/>
          </a:p>
        </p:txBody>
      </p:sp>
      <p:sp>
        <p:nvSpPr>
          <p:cNvPr id="7" name="Shape 5"/>
          <p:cNvSpPr/>
          <p:nvPr/>
        </p:nvSpPr>
        <p:spPr>
          <a:xfrm>
            <a:off x="3052048" y="3289340"/>
            <a:ext cx="10711815" cy="15240"/>
          </a:xfrm>
          <a:prstGeom prst="roundRect">
            <a:avLst>
              <a:gd name="adj" fmla="val 597101"/>
            </a:avLst>
          </a:prstGeom>
          <a:solidFill>
            <a:srgbClr val="8D2424"/>
          </a:solidFill>
          <a:ln/>
        </p:spPr>
      </p:sp>
      <p:sp>
        <p:nvSpPr>
          <p:cNvPr id="8" name="Shape 6"/>
          <p:cNvSpPr/>
          <p:nvPr/>
        </p:nvSpPr>
        <p:spPr>
          <a:xfrm>
            <a:off x="758309" y="3412807"/>
            <a:ext cx="4371142" cy="1265992"/>
          </a:xfrm>
          <a:prstGeom prst="roundRect">
            <a:avLst>
              <a:gd name="adj" fmla="val 7188"/>
            </a:avLst>
          </a:prstGeom>
          <a:solidFill>
            <a:srgbClr val="740B0B"/>
          </a:solidFill>
          <a:ln w="7620">
            <a:solidFill>
              <a:srgbClr val="8D2424"/>
            </a:solidFill>
            <a:prstDash val="solid"/>
          </a:ln>
        </p:spPr>
      </p:sp>
      <p:sp>
        <p:nvSpPr>
          <p:cNvPr id="9" name="Text 7"/>
          <p:cNvSpPr/>
          <p:nvPr/>
        </p:nvSpPr>
        <p:spPr>
          <a:xfrm>
            <a:off x="2791539" y="3855363"/>
            <a:ext cx="304681" cy="380762"/>
          </a:xfrm>
          <a:prstGeom prst="rect">
            <a:avLst/>
          </a:prstGeom>
          <a:noFill/>
          <a:ln/>
        </p:spPr>
        <p:txBody>
          <a:bodyPr wrap="none" lIns="0" tIns="0" rIns="0" bIns="0" rtlCol="0" anchor="t"/>
          <a:lstStyle/>
          <a:p>
            <a:pPr algn="ctr" indent="0" marL="0">
              <a:lnSpc>
                <a:spcPts val="3800"/>
              </a:lnSpc>
              <a:buNone/>
            </a:pPr>
            <a:r>
              <a:rPr lang="en-US" sz="2350" dirty="0">
                <a:solidFill>
                  <a:srgbClr val="FFE5E5"/>
                </a:solidFill>
                <a:latin typeface="Dela Gothic One" pitchFamily="34" charset="0"/>
                <a:ea typeface="Dela Gothic One" pitchFamily="34" charset="-122"/>
                <a:cs typeface="Dela Gothic One" pitchFamily="34" charset="-120"/>
              </a:rPr>
              <a:t>2</a:t>
            </a:r>
            <a:endParaRPr lang="en-US" sz="2350" dirty="0"/>
          </a:p>
        </p:txBody>
      </p:sp>
      <p:sp>
        <p:nvSpPr>
          <p:cNvPr id="10" name="Text 8"/>
          <p:cNvSpPr/>
          <p:nvPr/>
        </p:nvSpPr>
        <p:spPr>
          <a:xfrm>
            <a:off x="5346025" y="3629382"/>
            <a:ext cx="3659029" cy="356235"/>
          </a:xfrm>
          <a:prstGeom prst="rect">
            <a:avLst/>
          </a:prstGeom>
          <a:noFill/>
          <a:ln/>
        </p:spPr>
        <p:txBody>
          <a:bodyPr wrap="none" lIns="0" tIns="0" rIns="0" bIns="0" rtlCol="0" anchor="t"/>
          <a:lstStyle/>
          <a:p>
            <a:pPr algn="l" indent="0" marL="0">
              <a:lnSpc>
                <a:spcPts val="2800"/>
              </a:lnSpc>
              <a:buNone/>
            </a:pPr>
            <a:r>
              <a:rPr lang="en-US" sz="2200" dirty="0">
                <a:solidFill>
                  <a:srgbClr val="FFE5E5"/>
                </a:solidFill>
                <a:latin typeface="Dela Gothic One" pitchFamily="34" charset="0"/>
                <a:ea typeface="Dela Gothic One" pitchFamily="34" charset="-122"/>
                <a:cs typeface="Dela Gothic One" pitchFamily="34" charset="-120"/>
              </a:rPr>
              <a:t>Platform Comparison</a:t>
            </a:r>
            <a:endParaRPr lang="en-US" sz="2200" dirty="0"/>
          </a:p>
        </p:txBody>
      </p:sp>
      <p:sp>
        <p:nvSpPr>
          <p:cNvPr id="11" name="Text 9"/>
          <p:cNvSpPr/>
          <p:nvPr/>
        </p:nvSpPr>
        <p:spPr>
          <a:xfrm>
            <a:off x="5346025" y="4115514"/>
            <a:ext cx="4125158" cy="346710"/>
          </a:xfrm>
          <a:prstGeom prst="rect">
            <a:avLst/>
          </a:prstGeom>
          <a:noFill/>
          <a:ln/>
        </p:spPr>
        <p:txBody>
          <a:bodyPr wrap="none" lIns="0" tIns="0" rIns="0" bIns="0" rtlCol="0" anchor="t"/>
          <a:lstStyle/>
          <a:p>
            <a:pPr algn="l" indent="0" marL="0">
              <a:lnSpc>
                <a:spcPts val="2700"/>
              </a:lnSpc>
              <a:buNone/>
            </a:pPr>
            <a:r>
              <a:rPr lang="en-US" sz="1700" dirty="0">
                <a:solidFill>
                  <a:srgbClr val="FFE5E5"/>
                </a:solidFill>
                <a:latin typeface="DM Sans" pitchFamily="34" charset="0"/>
                <a:ea typeface="DM Sans" pitchFamily="34" charset="-122"/>
                <a:cs typeface="DM Sans" pitchFamily="34" charset="-120"/>
              </a:rPr>
              <a:t>Compare with other streaming platforms.</a:t>
            </a:r>
            <a:endParaRPr lang="en-US" sz="1700" dirty="0"/>
          </a:p>
        </p:txBody>
      </p:sp>
      <p:sp>
        <p:nvSpPr>
          <p:cNvPr id="12" name="Shape 10"/>
          <p:cNvSpPr/>
          <p:nvPr/>
        </p:nvSpPr>
        <p:spPr>
          <a:xfrm>
            <a:off x="5237678" y="4663559"/>
            <a:ext cx="8526185" cy="15240"/>
          </a:xfrm>
          <a:prstGeom prst="roundRect">
            <a:avLst>
              <a:gd name="adj" fmla="val 597101"/>
            </a:avLst>
          </a:prstGeom>
          <a:solidFill>
            <a:srgbClr val="8D2424"/>
          </a:solidFill>
          <a:ln/>
        </p:spPr>
      </p:sp>
      <p:sp>
        <p:nvSpPr>
          <p:cNvPr id="13" name="Shape 11"/>
          <p:cNvSpPr/>
          <p:nvPr/>
        </p:nvSpPr>
        <p:spPr>
          <a:xfrm>
            <a:off x="758309" y="4787027"/>
            <a:ext cx="6556891" cy="1265992"/>
          </a:xfrm>
          <a:prstGeom prst="roundRect">
            <a:avLst>
              <a:gd name="adj" fmla="val 7188"/>
            </a:avLst>
          </a:prstGeom>
          <a:solidFill>
            <a:srgbClr val="740B0B"/>
          </a:solidFill>
          <a:ln w="7620">
            <a:solidFill>
              <a:srgbClr val="8D2424"/>
            </a:solidFill>
            <a:prstDash val="solid"/>
          </a:ln>
        </p:spPr>
      </p:sp>
      <p:sp>
        <p:nvSpPr>
          <p:cNvPr id="14" name="Text 12"/>
          <p:cNvSpPr/>
          <p:nvPr/>
        </p:nvSpPr>
        <p:spPr>
          <a:xfrm>
            <a:off x="3884414" y="5229582"/>
            <a:ext cx="304681" cy="380762"/>
          </a:xfrm>
          <a:prstGeom prst="rect">
            <a:avLst/>
          </a:prstGeom>
          <a:noFill/>
          <a:ln/>
        </p:spPr>
        <p:txBody>
          <a:bodyPr wrap="none" lIns="0" tIns="0" rIns="0" bIns="0" rtlCol="0" anchor="t"/>
          <a:lstStyle/>
          <a:p>
            <a:pPr algn="ctr" indent="0" marL="0">
              <a:lnSpc>
                <a:spcPts val="3800"/>
              </a:lnSpc>
              <a:buNone/>
            </a:pPr>
            <a:r>
              <a:rPr lang="en-US" sz="2350" dirty="0">
                <a:solidFill>
                  <a:srgbClr val="FFE5E5"/>
                </a:solidFill>
                <a:latin typeface="Dela Gothic One" pitchFamily="34" charset="0"/>
                <a:ea typeface="Dela Gothic One" pitchFamily="34" charset="-122"/>
                <a:cs typeface="Dela Gothic One" pitchFamily="34" charset="-120"/>
              </a:rPr>
              <a:t>3</a:t>
            </a:r>
            <a:endParaRPr lang="en-US" sz="2350" dirty="0"/>
          </a:p>
        </p:txBody>
      </p:sp>
      <p:sp>
        <p:nvSpPr>
          <p:cNvPr id="15" name="Text 13"/>
          <p:cNvSpPr/>
          <p:nvPr/>
        </p:nvSpPr>
        <p:spPr>
          <a:xfrm>
            <a:off x="7531775" y="5003602"/>
            <a:ext cx="4341376" cy="356235"/>
          </a:xfrm>
          <a:prstGeom prst="rect">
            <a:avLst/>
          </a:prstGeom>
          <a:noFill/>
          <a:ln/>
        </p:spPr>
        <p:txBody>
          <a:bodyPr wrap="none" lIns="0" tIns="0" rIns="0" bIns="0" rtlCol="0" anchor="t"/>
          <a:lstStyle/>
          <a:p>
            <a:pPr algn="l" indent="0" marL="0">
              <a:lnSpc>
                <a:spcPts val="2800"/>
              </a:lnSpc>
              <a:buNone/>
            </a:pPr>
            <a:r>
              <a:rPr lang="en-US" sz="2200" dirty="0">
                <a:solidFill>
                  <a:srgbClr val="FFE5E5"/>
                </a:solidFill>
                <a:latin typeface="Dela Gothic One" pitchFamily="34" charset="0"/>
                <a:ea typeface="Dela Gothic One" pitchFamily="34" charset="-122"/>
                <a:cs typeface="Dela Gothic One" pitchFamily="34" charset="-120"/>
              </a:rPr>
              <a:t>Recommendation System</a:t>
            </a:r>
            <a:endParaRPr lang="en-US" sz="2200" dirty="0"/>
          </a:p>
        </p:txBody>
      </p:sp>
      <p:sp>
        <p:nvSpPr>
          <p:cNvPr id="16" name="Text 14"/>
          <p:cNvSpPr/>
          <p:nvPr/>
        </p:nvSpPr>
        <p:spPr>
          <a:xfrm>
            <a:off x="7531775" y="5489734"/>
            <a:ext cx="4341376" cy="346710"/>
          </a:xfrm>
          <a:prstGeom prst="rect">
            <a:avLst/>
          </a:prstGeom>
          <a:noFill/>
          <a:ln/>
        </p:spPr>
        <p:txBody>
          <a:bodyPr wrap="none" lIns="0" tIns="0" rIns="0" bIns="0" rtlCol="0" anchor="t"/>
          <a:lstStyle/>
          <a:p>
            <a:pPr algn="l" indent="0" marL="0">
              <a:lnSpc>
                <a:spcPts val="2700"/>
              </a:lnSpc>
              <a:buNone/>
            </a:pPr>
            <a:r>
              <a:rPr lang="en-US" sz="1700" dirty="0">
                <a:solidFill>
                  <a:srgbClr val="FFE5E5"/>
                </a:solidFill>
                <a:latin typeface="DM Sans" pitchFamily="34" charset="0"/>
                <a:ea typeface="DM Sans" pitchFamily="34" charset="-122"/>
                <a:cs typeface="DM Sans" pitchFamily="34" charset="-120"/>
              </a:rPr>
              <a:t>Build a content recommendation system.</a:t>
            </a:r>
            <a:endParaRPr lang="en-US" sz="1700" dirty="0"/>
          </a:p>
        </p:txBody>
      </p:sp>
      <p:sp>
        <p:nvSpPr>
          <p:cNvPr id="17" name="Text 15"/>
          <p:cNvSpPr/>
          <p:nvPr/>
        </p:nvSpPr>
        <p:spPr>
          <a:xfrm>
            <a:off x="758309" y="6296739"/>
            <a:ext cx="13113782" cy="1040130"/>
          </a:xfrm>
          <a:prstGeom prst="rect">
            <a:avLst/>
          </a:prstGeom>
          <a:noFill/>
          <a:ln/>
        </p:spPr>
        <p:txBody>
          <a:bodyPr wrap="square" lIns="0" tIns="0" rIns="0" bIns="0" rtlCol="0" anchor="t"/>
          <a:lstStyle/>
          <a:p>
            <a:pPr algn="l" indent="0" marL="0">
              <a:lnSpc>
                <a:spcPts val="2700"/>
              </a:lnSpc>
              <a:buNone/>
            </a:pPr>
            <a:r>
              <a:rPr lang="en-US" sz="1700" dirty="0">
                <a:solidFill>
                  <a:srgbClr val="FFE5E5"/>
                </a:solidFill>
                <a:latin typeface="DM Sans" pitchFamily="34" charset="0"/>
                <a:ea typeface="DM Sans" pitchFamily="34" charset="-122"/>
                <a:cs typeface="DM Sans" pitchFamily="34" charset="-120"/>
              </a:rPr>
              <a:t>This project helped us understand Netflix’s content in a better way. We learned how to use Python tools to clean and study data. By creating graphs and analyzing the dataset, we got useful insights about content trends on Netflix. In future, we can add more features like user ratings or compare with other platforms to make the project even better.</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58309" y="1423749"/>
            <a:ext cx="5701546" cy="712708"/>
          </a:xfrm>
          <a:prstGeom prst="rect">
            <a:avLst/>
          </a:prstGeom>
          <a:noFill/>
          <a:ln/>
        </p:spPr>
        <p:txBody>
          <a:bodyPr wrap="none" lIns="0" tIns="0" rIns="0" bIns="0" rtlCol="0" anchor="t"/>
          <a:lstStyle/>
          <a:p>
            <a:pPr algn="l" indent="0" marL="0">
              <a:lnSpc>
                <a:spcPts val="5600"/>
              </a:lnSpc>
              <a:buNone/>
            </a:pPr>
            <a:r>
              <a:rPr lang="en-US" sz="4450" dirty="0">
                <a:solidFill>
                  <a:srgbClr val="FAEBEB"/>
                </a:solidFill>
                <a:latin typeface="Dela Gothic One" pitchFamily="34" charset="0"/>
                <a:ea typeface="Dela Gothic One" pitchFamily="34" charset="-122"/>
                <a:cs typeface="Dela Gothic One" pitchFamily="34" charset="-120"/>
              </a:rPr>
              <a:t>References</a:t>
            </a:r>
            <a:endParaRPr lang="en-US" sz="4450" dirty="0"/>
          </a:p>
        </p:txBody>
      </p:sp>
      <p:sp>
        <p:nvSpPr>
          <p:cNvPr id="3" name="Text 1"/>
          <p:cNvSpPr/>
          <p:nvPr/>
        </p:nvSpPr>
        <p:spPr>
          <a:xfrm>
            <a:off x="758309" y="2569726"/>
            <a:ext cx="13113782" cy="346710"/>
          </a:xfrm>
          <a:prstGeom prst="rect">
            <a:avLst/>
          </a:prstGeom>
          <a:noFill/>
          <a:ln/>
        </p:spPr>
        <p:txBody>
          <a:bodyPr wrap="none" lIns="0" tIns="0" rIns="0" bIns="0" rtlCol="0" anchor="t"/>
          <a:lstStyle/>
          <a:p>
            <a:pPr algn="l" indent="0" marL="0">
              <a:lnSpc>
                <a:spcPts val="2700"/>
              </a:lnSpc>
              <a:buNone/>
            </a:pPr>
            <a:r>
              <a:rPr lang="en-US" sz="1700" dirty="0">
                <a:solidFill>
                  <a:srgbClr val="FFE5E5"/>
                </a:solidFill>
                <a:latin typeface="DM Sans" pitchFamily="34" charset="0"/>
                <a:ea typeface="DM Sans" pitchFamily="34" charset="-122"/>
                <a:cs typeface="DM Sans" pitchFamily="34" charset="-120"/>
              </a:rPr>
              <a:t>1. Netflix Dataset: </a:t>
            </a:r>
            <a:pPr algn="l" indent="0" marL="0">
              <a:lnSpc>
                <a:spcPts val="2700"/>
              </a:lnSpc>
              <a:buNone/>
            </a:pPr>
            <a:r>
              <a:rPr lang="en-US" sz="1700" u="sng" dirty="0">
                <a:solidFill>
                  <a:srgbClr val="C91313"/>
                </a:solidFill>
                <a:latin typeface="DM Sans" pitchFamily="34" charset="0"/>
                <a:ea typeface="DM Sans" pitchFamily="34" charset="-122"/>
                <a:cs typeface="DM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https://www.kaggle.com/datasets/shivamb/netflix-shows</a:t>
            </a:r>
            <a:endParaRPr lang="en-US" sz="1700" dirty="0"/>
          </a:p>
        </p:txBody>
      </p:sp>
      <p:sp>
        <p:nvSpPr>
          <p:cNvPr id="4" name="Text 2"/>
          <p:cNvSpPr/>
          <p:nvPr/>
        </p:nvSpPr>
        <p:spPr>
          <a:xfrm>
            <a:off x="758309" y="3160157"/>
            <a:ext cx="13113782" cy="346710"/>
          </a:xfrm>
          <a:prstGeom prst="rect">
            <a:avLst/>
          </a:prstGeom>
          <a:noFill/>
          <a:ln/>
        </p:spPr>
        <p:txBody>
          <a:bodyPr wrap="none" lIns="0" tIns="0" rIns="0" bIns="0" rtlCol="0" anchor="t"/>
          <a:lstStyle/>
          <a:p>
            <a:pPr algn="l" indent="0" marL="0">
              <a:lnSpc>
                <a:spcPts val="2700"/>
              </a:lnSpc>
              <a:buNone/>
            </a:pPr>
            <a:r>
              <a:rPr lang="en-US" sz="1700" dirty="0">
                <a:solidFill>
                  <a:srgbClr val="FFE5E5"/>
                </a:solidFill>
                <a:latin typeface="DM Sans" pitchFamily="34" charset="0"/>
                <a:ea typeface="DM Sans" pitchFamily="34" charset="-122"/>
                <a:cs typeface="DM Sans" pitchFamily="34" charset="-120"/>
              </a:rPr>
              <a:t>2. Python Programming Language - </a:t>
            </a:r>
            <a:pPr algn="l" indent="0" marL="0">
              <a:lnSpc>
                <a:spcPts val="2700"/>
              </a:lnSpc>
              <a:buNone/>
            </a:pPr>
            <a:r>
              <a:rPr lang="en-US" sz="1700" u="sng" dirty="0">
                <a:solidFill>
                  <a:srgbClr val="C91313"/>
                </a:solidFill>
                <a:latin typeface="DM Sans" pitchFamily="34" charset="0"/>
                <a:ea typeface="DM Sans" pitchFamily="34" charset="-122"/>
                <a:cs typeface="DM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https://www.python.org/</a:t>
            </a:r>
            <a:endParaRPr lang="en-US" sz="1700" dirty="0"/>
          </a:p>
        </p:txBody>
      </p:sp>
      <p:sp>
        <p:nvSpPr>
          <p:cNvPr id="5" name="Text 3"/>
          <p:cNvSpPr/>
          <p:nvPr/>
        </p:nvSpPr>
        <p:spPr>
          <a:xfrm>
            <a:off x="758309" y="3750588"/>
            <a:ext cx="13113782" cy="346710"/>
          </a:xfrm>
          <a:prstGeom prst="rect">
            <a:avLst/>
          </a:prstGeom>
          <a:noFill/>
          <a:ln/>
        </p:spPr>
        <p:txBody>
          <a:bodyPr wrap="none" lIns="0" tIns="0" rIns="0" bIns="0" rtlCol="0" anchor="t"/>
          <a:lstStyle/>
          <a:p>
            <a:pPr algn="l" indent="0" marL="0">
              <a:lnSpc>
                <a:spcPts val="2700"/>
              </a:lnSpc>
              <a:buNone/>
            </a:pPr>
            <a:r>
              <a:rPr lang="en-US" sz="1700" dirty="0">
                <a:solidFill>
                  <a:srgbClr val="FFE5E5"/>
                </a:solidFill>
                <a:latin typeface="DM Sans" pitchFamily="34" charset="0"/>
                <a:ea typeface="DM Sans" pitchFamily="34" charset="-122"/>
                <a:cs typeface="DM Sans" pitchFamily="34" charset="-120"/>
              </a:rPr>
              <a:t>3. Pandas Library - </a:t>
            </a:r>
            <a:pPr algn="l" indent="0" marL="0">
              <a:lnSpc>
                <a:spcPts val="2700"/>
              </a:lnSpc>
              <a:buNone/>
            </a:pPr>
            <a:r>
              <a:rPr lang="en-US" sz="1700" u="sng" dirty="0">
                <a:solidFill>
                  <a:srgbClr val="C91313"/>
                </a:solidFill>
                <a:latin typeface="DM Sans" pitchFamily="34" charset="0"/>
                <a:ea typeface="DM Sans" pitchFamily="34" charset="-122"/>
                <a:cs typeface="DM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https://pandas.pydata.org/</a:t>
            </a:r>
            <a:endParaRPr lang="en-US" sz="1700" dirty="0"/>
          </a:p>
        </p:txBody>
      </p:sp>
      <p:sp>
        <p:nvSpPr>
          <p:cNvPr id="6" name="Text 4"/>
          <p:cNvSpPr/>
          <p:nvPr/>
        </p:nvSpPr>
        <p:spPr>
          <a:xfrm>
            <a:off x="758309" y="4341019"/>
            <a:ext cx="13113782" cy="346710"/>
          </a:xfrm>
          <a:prstGeom prst="rect">
            <a:avLst/>
          </a:prstGeom>
          <a:noFill/>
          <a:ln/>
        </p:spPr>
        <p:txBody>
          <a:bodyPr wrap="none" lIns="0" tIns="0" rIns="0" bIns="0" rtlCol="0" anchor="t"/>
          <a:lstStyle/>
          <a:p>
            <a:pPr algn="l" indent="0" marL="0">
              <a:lnSpc>
                <a:spcPts val="2700"/>
              </a:lnSpc>
              <a:buNone/>
            </a:pPr>
            <a:r>
              <a:rPr lang="en-US" sz="1700" dirty="0">
                <a:solidFill>
                  <a:srgbClr val="FFE5E5"/>
                </a:solidFill>
                <a:latin typeface="DM Sans" pitchFamily="34" charset="0"/>
                <a:ea typeface="DM Sans" pitchFamily="34" charset="-122"/>
                <a:cs typeface="DM Sans" pitchFamily="34" charset="-120"/>
              </a:rPr>
              <a:t>4. NumPy Library - </a:t>
            </a:r>
            <a:pPr algn="l" indent="0" marL="0">
              <a:lnSpc>
                <a:spcPts val="2700"/>
              </a:lnSpc>
              <a:buNone/>
            </a:pPr>
            <a:r>
              <a:rPr lang="en-US" sz="1700" u="sng" dirty="0">
                <a:solidFill>
                  <a:srgbClr val="C91313"/>
                </a:solidFill>
                <a:latin typeface="DM Sans" pitchFamily="34" charset="0"/>
                <a:ea typeface="DM Sans" pitchFamily="34" charset="-122"/>
                <a:cs typeface="DM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https://numpy.org/</a:t>
            </a:r>
            <a:endParaRPr lang="en-US" sz="1700" dirty="0"/>
          </a:p>
        </p:txBody>
      </p:sp>
      <p:sp>
        <p:nvSpPr>
          <p:cNvPr id="7" name="Text 5"/>
          <p:cNvSpPr/>
          <p:nvPr/>
        </p:nvSpPr>
        <p:spPr>
          <a:xfrm>
            <a:off x="758309" y="4931450"/>
            <a:ext cx="13113782" cy="346710"/>
          </a:xfrm>
          <a:prstGeom prst="rect">
            <a:avLst/>
          </a:prstGeom>
          <a:noFill/>
          <a:ln/>
        </p:spPr>
        <p:txBody>
          <a:bodyPr wrap="none" lIns="0" tIns="0" rIns="0" bIns="0" rtlCol="0" anchor="t"/>
          <a:lstStyle/>
          <a:p>
            <a:pPr algn="l" indent="0" marL="0">
              <a:lnSpc>
                <a:spcPts val="2700"/>
              </a:lnSpc>
              <a:buNone/>
            </a:pPr>
            <a:r>
              <a:rPr lang="en-US" sz="1700" dirty="0">
                <a:solidFill>
                  <a:srgbClr val="FFE5E5"/>
                </a:solidFill>
                <a:latin typeface="DM Sans" pitchFamily="34" charset="0"/>
                <a:ea typeface="DM Sans" pitchFamily="34" charset="-122"/>
                <a:cs typeface="DM Sans" pitchFamily="34" charset="-120"/>
              </a:rPr>
              <a:t>5. Plotly Express - </a:t>
            </a:r>
            <a:pPr algn="l" indent="0" marL="0">
              <a:lnSpc>
                <a:spcPts val="2700"/>
              </a:lnSpc>
              <a:buNone/>
            </a:pPr>
            <a:r>
              <a:rPr lang="en-US" sz="1700" u="sng" dirty="0">
                <a:solidFill>
                  <a:srgbClr val="C91313"/>
                </a:solidFill>
                <a:latin typeface="DM Sans" pitchFamily="34" charset="0"/>
                <a:ea typeface="DM Sans" pitchFamily="34" charset="-122"/>
                <a:cs typeface="DM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https://plotly.com/python/plotly-express/</a:t>
            </a:r>
            <a:endParaRPr lang="en-US" sz="1700" dirty="0"/>
          </a:p>
        </p:txBody>
      </p:sp>
      <p:sp>
        <p:nvSpPr>
          <p:cNvPr id="8" name="Text 6"/>
          <p:cNvSpPr/>
          <p:nvPr/>
        </p:nvSpPr>
        <p:spPr>
          <a:xfrm>
            <a:off x="758309" y="5521881"/>
            <a:ext cx="13113782" cy="346710"/>
          </a:xfrm>
          <a:prstGeom prst="rect">
            <a:avLst/>
          </a:prstGeom>
          <a:noFill/>
          <a:ln/>
        </p:spPr>
        <p:txBody>
          <a:bodyPr wrap="none" lIns="0" tIns="0" rIns="0" bIns="0" rtlCol="0" anchor="t"/>
          <a:lstStyle/>
          <a:p>
            <a:pPr algn="l" indent="0" marL="0">
              <a:lnSpc>
                <a:spcPts val="2700"/>
              </a:lnSpc>
              <a:buNone/>
            </a:pPr>
            <a:r>
              <a:rPr lang="en-US" sz="1700" dirty="0">
                <a:solidFill>
                  <a:srgbClr val="FFE5E5"/>
                </a:solidFill>
                <a:latin typeface="DM Sans" pitchFamily="34" charset="0"/>
                <a:ea typeface="DM Sans" pitchFamily="34" charset="-122"/>
                <a:cs typeface="DM Sans" pitchFamily="34" charset="-120"/>
              </a:rPr>
              <a:t>6. Jupyter Notebook - </a:t>
            </a:r>
            <a:pPr algn="l" indent="0" marL="0">
              <a:lnSpc>
                <a:spcPts val="2700"/>
              </a:lnSpc>
              <a:buNone/>
            </a:pPr>
            <a:r>
              <a:rPr lang="en-US" sz="1700" u="sng" dirty="0">
                <a:solidFill>
                  <a:srgbClr val="C91313"/>
                </a:solidFill>
                <a:latin typeface="DM Sans" pitchFamily="34" charset="0"/>
                <a:ea typeface="DM Sans" pitchFamily="34" charset="-122"/>
                <a:cs typeface="DM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https://jupyter.org/</a:t>
            </a:r>
            <a:endParaRPr lang="en-US" sz="1700" dirty="0"/>
          </a:p>
        </p:txBody>
      </p:sp>
      <p:sp>
        <p:nvSpPr>
          <p:cNvPr id="9" name="Text 7"/>
          <p:cNvSpPr/>
          <p:nvPr/>
        </p:nvSpPr>
        <p:spPr>
          <a:xfrm>
            <a:off x="758309" y="6112312"/>
            <a:ext cx="13113782" cy="693420"/>
          </a:xfrm>
          <a:prstGeom prst="rect">
            <a:avLst/>
          </a:prstGeom>
          <a:noFill/>
          <a:ln/>
        </p:spPr>
        <p:txBody>
          <a:bodyPr wrap="square" lIns="0" tIns="0" rIns="0" bIns="0" rtlCol="0" anchor="t"/>
          <a:lstStyle/>
          <a:p>
            <a:pPr algn="l" indent="0" marL="0">
              <a:lnSpc>
                <a:spcPts val="2700"/>
              </a:lnSpc>
              <a:buNone/>
            </a:pPr>
            <a:r>
              <a:rPr lang="en-US" sz="1700" dirty="0">
                <a:solidFill>
                  <a:srgbClr val="FFE5E5"/>
                </a:solidFill>
                <a:latin typeface="DM Sans" pitchFamily="34" charset="0"/>
                <a:ea typeface="DM Sans" pitchFamily="34" charset="-122"/>
                <a:cs typeface="DM Sans" pitchFamily="34" charset="-120"/>
              </a:rPr>
              <a:t>This project utilized various resources and tools to conduct a comprehensive analysis of Netflix's content and trends. The references listed provide access to the dataset, programming language, and libraries used in this study.</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2025-04-15T19:05:42Z</dcterms:created>
  <dcterms:modified xsi:type="dcterms:W3CDTF">2025-04-15T19:05:42Z</dcterms:modified>
</cp:coreProperties>
</file>